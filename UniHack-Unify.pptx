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099"/>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Fill in your team name and leader before submitting.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Mermaid source for this architecture:</a:t>
            </a:r>
          </a:p>
          <a:p/>
          <a:p>
            <a:r>
              <a:t>flowchart LR</a:t>
            </a:r>
          </a:p>
          <a:p>
            <a:r>
              <a:t>  subgraph SRC["Sources"]</a:t>
            </a:r>
          </a:p>
          <a:p>
            <a:r>
              <a:t>    A1[PDF datasheet]</a:t>
            </a:r>
          </a:p>
          <a:p>
            <a:r>
              <a:t>    A2[Product URL]</a:t>
            </a:r>
          </a:p>
          <a:p>
            <a:r>
              <a:t>    A3[Pasted spec block]</a:t>
            </a:r>
          </a:p>
          <a:p>
            <a:r>
              <a:t>    A4[(Cached corpus)]</a:t>
            </a:r>
          </a:p>
          <a:p>
            <a:r>
              <a:t>  end</a:t>
            </a:r>
          </a:p>
          <a:p/>
          <a:p>
            <a:r>
              <a:t>  subgraph ING["Ingest &amp; Retrieve"]</a:t>
            </a:r>
          </a:p>
          <a:p>
            <a:r>
              <a:t>    B1[/api/ingest\nunpdf + HTML to text/]</a:t>
            </a:r>
          </a:p>
          <a:p>
            <a:r>
              <a:t>    B2[Source authority ranking]</a:t>
            </a:r>
          </a:p>
          <a:p>
            <a:r>
              <a:t>    B3{{Taxonomy\nclass to attribute schema}}</a:t>
            </a:r>
          </a:p>
          <a:p>
            <a:r>
              <a:t>    B4[(Evidence pool\nexcerpt + char offsets)]</a:t>
            </a:r>
          </a:p>
          <a:p>
            <a:r>
              <a:t>  end</a:t>
            </a:r>
          </a:p>
          <a:p/>
          <a:p>
            <a:r>
              <a:t>  subgraph PIPE["Pipeline - 8 stages"]</a:t>
            </a:r>
          </a:p>
          <a:p>
            <a:r>
              <a:t>    C1[Classify]</a:t>
            </a:r>
          </a:p>
          <a:p>
            <a:r>
              <a:t>    C2[Retrieve]</a:t>
            </a:r>
          </a:p>
          <a:p>
            <a:r>
              <a:t>    C3[Extract\nschema-constrained, cited]</a:t>
            </a:r>
          </a:p>
          <a:p>
            <a:r>
              <a:t>    C4[Normalize\nunits, enums, ranges]</a:t>
            </a:r>
          </a:p>
          <a:p>
            <a:r>
              <a:t>    C5[Critique\nadversarial refutation]</a:t>
            </a:r>
          </a:p>
          <a:p>
            <a:r>
              <a:t>    C6[Resolve\nconflicts + confidence]</a:t>
            </a:r>
          </a:p>
          <a:p>
            <a:r>
              <a:t>    C7{Gate\n&gt;=92% publish}</a:t>
            </a:r>
          </a:p>
          <a:p>
            <a:r>
              <a:t>    C8[Compose\nSEO, synonyms, facets]</a:t>
            </a:r>
          </a:p>
          <a:p>
            <a:r>
              <a:t>  end</a:t>
            </a:r>
          </a:p>
          <a:p/>
          <a:p>
            <a:r>
              <a:t>  subgraph MODEL["Model layer"]</a:t>
            </a:r>
          </a:p>
          <a:p>
            <a:r>
              <a:t>    M1[Gemini 3.7 Flash\nclassify, normalize]</a:t>
            </a:r>
          </a:p>
          <a:p>
            <a:r>
              <a:t>    M2[Gemini 3.1 Pro\nextract, critique, copy]</a:t>
            </a:r>
          </a:p>
          <a:p>
            <a:r>
              <a:t>    M3[Deterministic reader\nno API key required]</a:t>
            </a:r>
          </a:p>
          <a:p>
            <a:r>
              <a:t>    M4[[withFallback\nmodel failure degrades]]</a:t>
            </a:r>
          </a:p>
          <a:p>
            <a:r>
              <a:t>  end</a:t>
            </a:r>
          </a:p>
          <a:p/>
          <a:p>
            <a:r>
              <a:t>  subgraph OUT["Outputs"]</a:t>
            </a:r>
          </a:p>
          <a:p>
            <a:r>
              <a:t>    D1[Attribute record\nvalue + span + confidence]</a:t>
            </a:r>
          </a:p>
          <a:p>
            <a:r>
              <a:t>    D2[(Workspace\nbrowser-held catalogue)]</a:t>
            </a:r>
          </a:p>
          <a:p>
            <a:r>
              <a:t>    D3[Search, facets, SEO copy]</a:t>
            </a:r>
          </a:p>
          <a:p>
            <a:r>
              <a:t>    D4[Knowledge graph\n90 nodes / 220 edges]</a:t>
            </a:r>
          </a:p>
          <a:p>
            <a:r>
              <a:t>    D5[[Human review queue]]</a:t>
            </a:r>
          </a:p>
          <a:p>
            <a:r>
              <a:t>  end</a:t>
            </a:r>
          </a:p>
          <a:p/>
          <a:p>
            <a:r>
              <a:t>  A1 --&gt; B1</a:t>
            </a:r>
          </a:p>
          <a:p>
            <a:r>
              <a:t>  A2 --&gt; B1</a:t>
            </a:r>
          </a:p>
          <a:p>
            <a:r>
              <a:t>  A3 --&gt; B1</a:t>
            </a:r>
          </a:p>
          <a:p>
            <a:r>
              <a:t>  A4 --&gt; B2</a:t>
            </a:r>
          </a:p>
          <a:p>
            <a:r>
              <a:t>  B1 --&gt; B2 --&gt; B4</a:t>
            </a:r>
          </a:p>
          <a:p>
            <a:r>
              <a:t>  B3 --&gt; C3</a:t>
            </a:r>
          </a:p>
          <a:p>
            <a:r>
              <a:t>  B4 --&gt; C3</a:t>
            </a:r>
          </a:p>
          <a:p>
            <a:r>
              <a:t>  C1 --&gt; C2 --&gt; C3 --&gt; C4 --&gt; C5 --&gt; C6 --&gt; C7</a:t>
            </a:r>
          </a:p>
          <a:p>
            <a:r>
              <a:t>  C7 --&gt;|publish| C8 --&gt; D1</a:t>
            </a:r>
          </a:p>
          <a:p>
            <a:r>
              <a:t>  C7 --&gt;|review| D5</a:t>
            </a:r>
          </a:p>
          <a:p>
            <a:r>
              <a:t>  C7 --&gt;|reject| X[Dropped, logged with reason]</a:t>
            </a:r>
          </a:p>
          <a:p>
            <a:r>
              <a:t>  C1 -.-&gt; M1</a:t>
            </a:r>
          </a:p>
          <a:p>
            <a:r>
              <a:t>  C4 -.-&gt; M1</a:t>
            </a:r>
          </a:p>
          <a:p>
            <a:r>
              <a:t>  C3 -.-&gt; M2</a:t>
            </a:r>
          </a:p>
          <a:p>
            <a:r>
              <a:t>  C5 -.-&gt; M2</a:t>
            </a:r>
          </a:p>
          <a:p>
            <a:r>
              <a:t>  M1 -.-&gt; M4</a:t>
            </a:r>
          </a:p>
          <a:p>
            <a:r>
              <a:t>  M2 -.-&gt; M4</a:t>
            </a:r>
          </a:p>
          <a:p>
            <a:r>
              <a:t>  M4 -.-&gt; M3</a:t>
            </a:r>
          </a:p>
          <a:p>
            <a:r>
              <a:t>  D1 --&gt; D2 --&gt; D3</a:t>
            </a:r>
          </a:p>
          <a:p>
            <a:r>
              <a:t>  D2 --&gt; D4</a:t>
            </a:r>
          </a:p>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slideLayout" Target="../slideLayouts/slideLayout7.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image" Target="../media/image6.png"/><Relationship Id="rId25" Type="http://schemas.openxmlformats.org/officeDocument/2006/relationships/slideLayout" Target="../slideLayouts/slideLayout7.xml"/><Relationship Id="rId24" Type="http://schemas.openxmlformats.org/officeDocument/2006/relationships/image" Target="../media/image11.png"/><Relationship Id="rId23" Type="http://schemas.openxmlformats.org/officeDocument/2006/relationships/tags" Target="../tags/tag29.xml"/><Relationship Id="rId22" Type="http://schemas.openxmlformats.org/officeDocument/2006/relationships/tags" Target="../tags/tag28.xml"/><Relationship Id="rId21" Type="http://schemas.openxmlformats.org/officeDocument/2006/relationships/image" Target="../media/image10.png"/><Relationship Id="rId20" Type="http://schemas.openxmlformats.org/officeDocument/2006/relationships/tags" Target="../tags/tag27.xml"/><Relationship Id="rId2" Type="http://schemas.openxmlformats.org/officeDocument/2006/relationships/tags" Target="../tags/tag13.xml"/><Relationship Id="rId19" Type="http://schemas.openxmlformats.org/officeDocument/2006/relationships/tags" Target="../tags/tag26.xml"/><Relationship Id="rId18" Type="http://schemas.openxmlformats.org/officeDocument/2006/relationships/tags" Target="../tags/tag25.xml"/><Relationship Id="rId17" Type="http://schemas.openxmlformats.org/officeDocument/2006/relationships/image" Target="../media/image9.png"/><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image" Target="../media/image8.png"/><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get-unify.vercel.app&#13;" TargetMode="External"/><Relationship Id="rId2" Type="http://schemas.openxmlformats.org/officeDocument/2006/relationships/hyperlink" Target="https://github.com/YashIsTheBest247/Unilog&#13;" TargetMode="Externa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Box 5"/>
          <p:cNvSpPr txBox="1"/>
          <p:nvPr/>
        </p:nvSpPr>
        <p:spPr>
          <a:xfrm>
            <a:off x="5852160" y="2788920"/>
            <a:ext cx="5669280" cy="822960"/>
          </a:xfrm>
          <a:prstGeom prst="rect">
            <a:avLst/>
          </a:prstGeom>
          <a:noFill/>
        </p:spPr>
        <p:txBody>
          <a:bodyPr wrap="square" lIns="0" tIns="0" rIns="0" bIns="0" anchor="t">
            <a:spAutoFit/>
          </a:bodyPr>
          <a:lstStyle/>
          <a:p>
            <a:pPr algn="r">
              <a:lnSpc>
                <a:spcPct val="115000"/>
              </a:lnSpc>
            </a:pPr>
            <a:r>
              <a:rPr sz="1500" b="0">
                <a:solidFill>
                  <a:srgbClr val="FFFFFF"/>
                </a:solidFill>
                <a:latin typeface="Calibri" panose="020F0502020204030204"/>
              </a:rPr>
              <a:t>AI-Powered Product Intelligence for</a:t>
            </a:r>
            <a:endParaRPr sz="1500" b="0">
              <a:solidFill>
                <a:srgbClr val="FFFFFF"/>
              </a:solidFill>
              <a:latin typeface="Calibri" panose="020F0502020204030204"/>
            </a:endParaRPr>
          </a:p>
        </p:txBody>
      </p:sp>
      <p:sp>
        <p:nvSpPr>
          <p:cNvPr id="8" name="TextBox 7"/>
          <p:cNvSpPr txBox="1"/>
          <p:nvPr/>
        </p:nvSpPr>
        <p:spPr>
          <a:xfrm>
            <a:off x="566928" y="4572000"/>
            <a:ext cx="11057839" cy="365760"/>
          </a:xfrm>
          <a:prstGeom prst="rect">
            <a:avLst/>
          </a:prstGeom>
          <a:noFill/>
        </p:spPr>
        <p:txBody>
          <a:bodyPr wrap="square" lIns="0" tIns="0" rIns="0" bIns="0" anchor="t">
            <a:spAutoFit/>
          </a:bodyPr>
          <a:lstStyle/>
          <a:p>
            <a:pPr algn="l">
              <a:lnSpc>
                <a:spcPct val="115000"/>
              </a:lnSpc>
            </a:pPr>
            <a:r>
              <a:rPr sz="1800" b="1">
                <a:solidFill>
                  <a:srgbClr val="1A1A1A"/>
                </a:solidFill>
                <a:latin typeface="Calibri" panose="020F0502020204030204"/>
              </a:rPr>
              <a:t>Team Details</a:t>
            </a:r>
            <a:endParaRPr sz="1800" b="1">
              <a:solidFill>
                <a:srgbClr val="1A1A1A"/>
              </a:solidFill>
              <a:latin typeface="Calibri" panose="020F0502020204030204"/>
            </a:endParaRPr>
          </a:p>
        </p:txBody>
      </p:sp>
      <p:pic>
        <p:nvPicPr>
          <p:cNvPr id="106" name="Google Shape;106;p26" title="Framedede 2.png"/>
          <p:cNvPicPr preferRelativeResize="0"/>
          <p:nvPr/>
        </p:nvPicPr>
        <p:blipFill rotWithShape="1">
          <a:blip r:embed="rId1"/>
          <a:srcRect/>
          <a:stretch>
            <a:fillRect/>
          </a:stretch>
        </p:blipFill>
        <p:spPr>
          <a:xfrm>
            <a:off x="0" y="0"/>
            <a:ext cx="12190730" cy="6858000"/>
          </a:xfrm>
          <a:prstGeom prst="rect">
            <a:avLst/>
          </a:prstGeom>
          <a:noFill/>
          <a:ln>
            <a:noFill/>
          </a:ln>
        </p:spPr>
      </p:pic>
      <p:sp>
        <p:nvSpPr>
          <p:cNvPr id="107" name="Google Shape;107;p26"/>
          <p:cNvSpPr txBox="1"/>
          <p:nvPr/>
        </p:nvSpPr>
        <p:spPr>
          <a:xfrm>
            <a:off x="186200" y="4691700"/>
            <a:ext cx="8760000" cy="1680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rgbClr val="000000"/>
                </a:solidFill>
                <a:latin typeface="Arial" panose="020B0604020202020204" pitchFamily="34" charset="0"/>
                <a:ea typeface="Google Sans"/>
                <a:cs typeface="Arial" panose="020B0604020202020204" pitchFamily="34" charset="0"/>
                <a:sym typeface="Google Sans"/>
              </a:rPr>
              <a:t>Team Details</a:t>
            </a:r>
            <a:endParaRPr sz="1800" b="1" i="0" u="none" strike="noStrike" cap="none">
              <a:solidFill>
                <a:srgbClr val="000000"/>
              </a:solidFill>
              <a:latin typeface="Arial" panose="020B0604020202020204" pitchFamily="34" charset="0"/>
              <a:ea typeface="Google Sans"/>
              <a:cs typeface="Arial" panose="020B0604020202020204" pitchFamily="34" charset="0"/>
              <a:sym typeface="Google Sans"/>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1" i="0" u="none" strike="noStrike" cap="none">
              <a:solidFill>
                <a:srgbClr val="000000"/>
              </a:solidFill>
              <a:latin typeface="Arial" panose="020B0604020202020204" pitchFamily="34" charset="0"/>
              <a:ea typeface="Google Sans"/>
              <a:cs typeface="Arial" panose="020B0604020202020204" pitchFamily="34" charset="0"/>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a:solidFill>
                  <a:srgbClr val="000000"/>
                </a:solidFill>
                <a:latin typeface="Arial" panose="020B0604020202020204" pitchFamily="34" charset="0"/>
                <a:ea typeface="Google Sans"/>
                <a:cs typeface="Arial" panose="020B0604020202020204" pitchFamily="34" charset="0"/>
                <a:sym typeface="Google Sans"/>
              </a:rPr>
              <a:t>Team name: </a:t>
            </a:r>
            <a:r>
              <a:rPr lang="en-US" altLang="en-GB" sz="1800" b="1" i="0" u="none" strike="noStrike" cap="none">
                <a:solidFill>
                  <a:srgbClr val="000000"/>
                </a:solidFill>
                <a:latin typeface="Arial" panose="020B0604020202020204" pitchFamily="34" charset="0"/>
                <a:ea typeface="Google Sans"/>
                <a:cs typeface="Arial" panose="020B0604020202020204" pitchFamily="34" charset="0"/>
                <a:sym typeface="Google Sans"/>
              </a:rPr>
              <a:t>ShadowByte</a:t>
            </a:r>
            <a:endParaRPr sz="1800" b="1" i="0" u="none" strike="noStrike" cap="none">
              <a:solidFill>
                <a:srgbClr val="000000"/>
              </a:solidFill>
              <a:latin typeface="Arial" panose="020B0604020202020204" pitchFamily="34" charset="0"/>
              <a:ea typeface="Google Sans"/>
              <a:cs typeface="Arial" panose="020B0604020202020204" pitchFamily="34" charset="0"/>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a:solidFill>
                  <a:srgbClr val="000000"/>
                </a:solidFill>
                <a:latin typeface="Arial" panose="020B0604020202020204" pitchFamily="34" charset="0"/>
                <a:ea typeface="Google Sans"/>
                <a:cs typeface="Arial" panose="020B0604020202020204" pitchFamily="34" charset="0"/>
                <a:sym typeface="Google Sans"/>
              </a:rPr>
              <a:t>Team leader name:</a:t>
            </a:r>
            <a:r>
              <a:rPr lang="en-US" altLang="en-GB" sz="1800" b="1" i="0" u="none" strike="noStrike" cap="none">
                <a:solidFill>
                  <a:srgbClr val="000000"/>
                </a:solidFill>
                <a:latin typeface="Arial" panose="020B0604020202020204" pitchFamily="34" charset="0"/>
                <a:ea typeface="Google Sans"/>
                <a:cs typeface="Arial" panose="020B0604020202020204" pitchFamily="34" charset="0"/>
                <a:sym typeface="Google Sans"/>
              </a:rPr>
              <a:t> Yash Munshi</a:t>
            </a:r>
            <a:r>
              <a:rPr lang="en-GB" sz="1800" b="1" i="0" u="none" strike="noStrike" cap="none">
                <a:solidFill>
                  <a:srgbClr val="000000"/>
                </a:solidFill>
                <a:latin typeface="Arial" panose="020B0604020202020204" pitchFamily="34" charset="0"/>
                <a:ea typeface="Google Sans"/>
                <a:cs typeface="Arial" panose="020B0604020202020204" pitchFamily="34" charset="0"/>
                <a:sym typeface="Google Sans"/>
              </a:rPr>
              <a:t> </a:t>
            </a:r>
            <a:endParaRPr sz="1800" b="1" i="0" u="none" strike="noStrike" cap="none">
              <a:solidFill>
                <a:srgbClr val="000000"/>
              </a:solidFill>
              <a:latin typeface="Arial" panose="020B0604020202020204" pitchFamily="34" charset="0"/>
              <a:ea typeface="Arial" panose="020B0604020202020204"/>
              <a:cs typeface="Arial" panose="020B0604020202020204" pitchFamily="34" charset="0"/>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7" name="TextBox 6"/>
          <p:cNvSpPr txBox="1"/>
          <p:nvPr/>
        </p:nvSpPr>
        <p:spPr>
          <a:xfrm>
            <a:off x="566928" y="1481328"/>
            <a:ext cx="11057839" cy="424180"/>
          </a:xfrm>
          <a:prstGeom prst="rect">
            <a:avLst/>
          </a:prstGeom>
          <a:noFill/>
        </p:spPr>
        <p:txBody>
          <a:bodyPr wrap="square" lIns="0" tIns="0" rIns="0" bIns="0" anchor="t">
            <a:spAutoFit/>
          </a:bodyPr>
          <a:lstStyle/>
          <a:p>
            <a:pPr algn="l">
              <a:lnSpc>
                <a:spcPct val="115000"/>
              </a:lnSpc>
            </a:pPr>
            <a:r>
              <a:rPr sz="2400" b="0">
                <a:solidFill>
                  <a:srgbClr val="1A1A1A"/>
                </a:solidFill>
                <a:latin typeface="Arial" panose="020B0604020202020204" pitchFamily="34" charset="0"/>
                <a:cs typeface="Arial" panose="020B0604020202020204" pitchFamily="34" charset="0"/>
              </a:rPr>
              <a:t>Brief about your solution</a:t>
            </a:r>
            <a:endParaRPr sz="2400" b="0">
              <a:solidFill>
                <a:srgbClr val="1A1A1A"/>
              </a:solidFill>
              <a:latin typeface="Arial" panose="020B0604020202020204" pitchFamily="34" charset="0"/>
              <a:cs typeface="Arial" panose="020B0604020202020204" pitchFamily="34" charset="0"/>
            </a:endParaRPr>
          </a:p>
        </p:txBody>
      </p:sp>
      <p:sp>
        <p:nvSpPr>
          <p:cNvPr id="8" name="TextBox 7"/>
          <p:cNvSpPr txBox="1"/>
          <p:nvPr/>
        </p:nvSpPr>
        <p:spPr>
          <a:xfrm>
            <a:off x="566928" y="2029968"/>
            <a:ext cx="11057839" cy="530860"/>
          </a:xfrm>
          <a:prstGeom prst="rect">
            <a:avLst/>
          </a:prstGeom>
          <a:noFill/>
        </p:spPr>
        <p:txBody>
          <a:bodyPr wrap="square" lIns="0" tIns="0" rIns="0" bIns="0" anchor="t">
            <a:spAutoFit/>
          </a:bodyPr>
          <a:lstStyle/>
          <a:p>
            <a:pPr algn="l">
              <a:lnSpc>
                <a:spcPct val="115000"/>
              </a:lnSpc>
            </a:pPr>
            <a:r>
              <a:rPr sz="3000" b="1">
                <a:solidFill>
                  <a:srgbClr val="1A1A1A"/>
                </a:solidFill>
                <a:latin typeface="Arial" panose="020B0604020202020204" pitchFamily="34" charset="0"/>
                <a:cs typeface="Arial" panose="020B0604020202020204" pitchFamily="34" charset="0"/>
              </a:rPr>
              <a:t>Unify </a:t>
            </a:r>
            <a:r>
              <a:rPr lang="en-US" sz="3000" b="1">
                <a:solidFill>
                  <a:srgbClr val="1A1A1A"/>
                </a:solidFill>
                <a:latin typeface="Arial" panose="020B0604020202020204" pitchFamily="34" charset="0"/>
                <a:cs typeface="Arial" panose="020B0604020202020204" pitchFamily="34" charset="0"/>
              </a:rPr>
              <a:t>:</a:t>
            </a:r>
            <a:r>
              <a:rPr sz="3000" b="1">
                <a:solidFill>
                  <a:srgbClr val="1A1A1A"/>
                </a:solidFill>
                <a:latin typeface="Arial" panose="020B0604020202020204" pitchFamily="34" charset="0"/>
                <a:cs typeface="Arial" panose="020B0604020202020204" pitchFamily="34" charset="0"/>
              </a:rPr>
              <a:t> </a:t>
            </a:r>
            <a:r>
              <a:rPr lang="en-US" sz="3000" b="1">
                <a:solidFill>
                  <a:srgbClr val="1A1A1A"/>
                </a:solidFill>
                <a:latin typeface="Arial" panose="020B0604020202020204" pitchFamily="34" charset="0"/>
                <a:cs typeface="Arial" panose="020B0604020202020204" pitchFamily="34" charset="0"/>
              </a:rPr>
              <a:t>E</a:t>
            </a:r>
            <a:r>
              <a:rPr sz="3000" b="1">
                <a:solidFill>
                  <a:srgbClr val="1A1A1A"/>
                </a:solidFill>
                <a:latin typeface="Arial" panose="020B0604020202020204" pitchFamily="34" charset="0"/>
                <a:cs typeface="Arial" panose="020B0604020202020204" pitchFamily="34" charset="0"/>
              </a:rPr>
              <a:t>very attribute carries its evidence.</a:t>
            </a:r>
            <a:endParaRPr sz="3000" b="1">
              <a:solidFill>
                <a:srgbClr val="1A1A1A"/>
              </a:solidFill>
              <a:latin typeface="Arial" panose="020B0604020202020204" pitchFamily="34" charset="0"/>
              <a:cs typeface="Arial" panose="020B0604020202020204" pitchFamily="34" charset="0"/>
            </a:endParaRPr>
          </a:p>
        </p:txBody>
      </p:sp>
      <p:sp>
        <p:nvSpPr>
          <p:cNvPr id="9" name="TextBox 8"/>
          <p:cNvSpPr txBox="1"/>
          <p:nvPr/>
        </p:nvSpPr>
        <p:spPr>
          <a:xfrm>
            <a:off x="566928" y="2743200"/>
            <a:ext cx="10424160" cy="1371600"/>
          </a:xfrm>
          <a:prstGeom prst="rect">
            <a:avLst/>
          </a:prstGeom>
          <a:noFill/>
        </p:spPr>
        <p:txBody>
          <a:bodyPr wrap="square" lIns="0" tIns="0" rIns="0" bIns="0" anchor="t">
            <a:spAutoFit/>
          </a:bodyPr>
          <a:lstStyle/>
          <a:p>
            <a:pPr algn="l">
              <a:lnSpc>
                <a:spcPct val="130000"/>
              </a:lnSpc>
            </a:pPr>
            <a:r>
              <a:rPr sz="1500" b="0">
                <a:solidFill>
                  <a:srgbClr val="3C3C3C"/>
                </a:solidFill>
                <a:latin typeface="Arial" panose="020B0604020202020204" pitchFamily="34" charset="0"/>
                <a:cs typeface="Arial" panose="020B0604020202020204" pitchFamily="34" charset="0"/>
              </a:rPr>
              <a:t>Unify turns a one-line supplier row, a PDF datasheet or a product URL into a commerce-ready record in which every single attribute cites the exact span of the source it came from.</a:t>
            </a:r>
            <a:endParaRPr sz="1500" b="0">
              <a:solidFill>
                <a:srgbClr val="3C3C3C"/>
              </a:solidFill>
              <a:latin typeface="Arial" panose="020B0604020202020204" pitchFamily="34" charset="0"/>
              <a:cs typeface="Arial" panose="020B0604020202020204" pitchFamily="34" charset="0"/>
            </a:endParaRPr>
          </a:p>
        </p:txBody>
      </p:sp>
      <p:sp>
        <p:nvSpPr>
          <p:cNvPr id="10" name="Rectangle 9"/>
          <p:cNvSpPr/>
          <p:nvPr/>
        </p:nvSpPr>
        <p:spPr>
          <a:xfrm>
            <a:off x="566928" y="3584448"/>
            <a:ext cx="45720" cy="2148840"/>
          </a:xfrm>
          <a:prstGeom prst="rect">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1" name="TextBox 10"/>
          <p:cNvSpPr txBox="1"/>
          <p:nvPr/>
        </p:nvSpPr>
        <p:spPr>
          <a:xfrm>
            <a:off x="822960" y="3611880"/>
            <a:ext cx="11018520" cy="600075"/>
          </a:xfrm>
          <a:prstGeom prst="rect">
            <a:avLst/>
          </a:prstGeom>
          <a:noFill/>
        </p:spPr>
        <p:txBody>
          <a:bodyPr wrap="square" lIns="0" tIns="0" rIns="0" bIns="0" anchor="t">
            <a:spAutoFit/>
          </a:bodyPr>
          <a:lstStyle/>
          <a:p>
            <a:pPr algn="l">
              <a:lnSpc>
                <a:spcPct val="130000"/>
              </a:lnSpc>
            </a:pPr>
            <a:r>
              <a:rPr sz="1500" b="1">
                <a:solidFill>
                  <a:srgbClr val="1A1A1A"/>
                </a:solidFill>
                <a:latin typeface="Arial" panose="020B0604020202020204" pitchFamily="34" charset="0"/>
                <a:cs typeface="Arial" panose="020B0604020202020204" pitchFamily="34" charset="0"/>
              </a:rPr>
              <a:t>The hard part of enrichment is not extraction</a:t>
            </a:r>
            <a:r>
              <a:rPr lang="en-US" sz="1500" b="1">
                <a:solidFill>
                  <a:srgbClr val="1A1A1A"/>
                </a:solidFill>
                <a:latin typeface="Arial" panose="020B0604020202020204" pitchFamily="34" charset="0"/>
                <a:cs typeface="Arial" panose="020B0604020202020204" pitchFamily="34" charset="0"/>
              </a:rPr>
              <a:t>,</a:t>
            </a:r>
            <a:r>
              <a:rPr sz="1500" b="1">
                <a:solidFill>
                  <a:srgbClr val="1A1A1A"/>
                </a:solidFill>
                <a:latin typeface="Arial" panose="020B0604020202020204" pitchFamily="34" charset="0"/>
                <a:cs typeface="Arial" panose="020B0604020202020204" pitchFamily="34" charset="0"/>
              </a:rPr>
              <a:t> it is trust. A distributor cannot publish a specification it is unable to defend.</a:t>
            </a:r>
            <a:endParaRPr sz="1500" b="1">
              <a:solidFill>
                <a:srgbClr val="1A1A1A"/>
              </a:solidFill>
              <a:latin typeface="Arial" panose="020B0604020202020204" pitchFamily="34" charset="0"/>
              <a:cs typeface="Arial" panose="020B0604020202020204" pitchFamily="34" charset="0"/>
            </a:endParaRPr>
          </a:p>
          <a:p>
            <a:pPr algn="l">
              <a:lnSpc>
                <a:spcPct val="130000"/>
              </a:lnSpc>
            </a:pPr>
            <a:endParaRPr sz="1500" b="1">
              <a:solidFill>
                <a:srgbClr val="1A1A1A"/>
              </a:solidFill>
              <a:latin typeface="Arial" panose="020B0604020202020204" pitchFamily="34" charset="0"/>
              <a:cs typeface="Arial" panose="020B0604020202020204" pitchFamily="34" charset="0"/>
            </a:endParaRPr>
          </a:p>
        </p:txBody>
      </p:sp>
      <p:sp>
        <p:nvSpPr>
          <p:cNvPr id="12" name="TextBox 11"/>
          <p:cNvSpPr txBox="1"/>
          <p:nvPr/>
        </p:nvSpPr>
        <p:spPr>
          <a:xfrm>
            <a:off x="822960" y="4114800"/>
            <a:ext cx="10241280" cy="2236470"/>
          </a:xfrm>
          <a:prstGeom prst="rect">
            <a:avLst/>
          </a:prstGeom>
          <a:noFill/>
        </p:spPr>
        <p:txBody>
          <a:bodyPr wrap="square" lIns="0" tIns="0" rIns="0" bIns="0" anchor="t">
            <a:spAutoFit/>
          </a:bodyPr>
          <a:lstStyle/>
          <a:p>
            <a:pPr algn="l">
              <a:lnSpc>
                <a:spcPct val="130000"/>
              </a:lnSpc>
            </a:pPr>
            <a:r>
              <a:rPr sz="1400" b="0">
                <a:solidFill>
                  <a:srgbClr val="3C3C3C"/>
                </a:solidFill>
                <a:latin typeface="Arial" panose="020B0604020202020204" pitchFamily="34" charset="0"/>
                <a:cs typeface="Arial" panose="020B0604020202020204" pitchFamily="34" charset="0"/>
              </a:rPr>
              <a:t>So Unify classifies a SKU into its taxonomy, fills the attribute schema that class demands, then sends an adversarial critic to refute every value against its source. Sources that disagree are both kept on the record with the tie-break shown. Only what survives, and clears a 92% confidence gate, is published; everything else is routed to a human with the conflict visible.
Measured on the working prototype: 479 of 479 quotes anchor to real character offsets, 91.4% of attributes clear the gate unattended, and average data quality rises from 33 to 96.
Live at </a:t>
            </a:r>
            <a:r>
              <a:rPr lang="en-US" altLang="en-GB" sz="1400" b="1">
                <a:solidFill>
                  <a:srgbClr val="3C3C3C"/>
                </a:solidFill>
                <a:latin typeface="Arial" panose="020B0604020202020204" pitchFamily="34" charset="0"/>
                <a:cs typeface="Arial" panose="020B0604020202020204" pitchFamily="34" charset="0"/>
              </a:rPr>
              <a:t>https://get-unify.vercel.app/</a:t>
            </a:r>
            <a:endParaRPr lang="en-US" altLang="en-GB" sz="1400" b="1">
              <a:solidFill>
                <a:srgbClr val="3C3C3C"/>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7" name="TextBox 6"/>
          <p:cNvSpPr txBox="1"/>
          <p:nvPr/>
        </p:nvSpPr>
        <p:spPr>
          <a:xfrm>
            <a:off x="566928" y="1129538"/>
            <a:ext cx="11057839"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1. How does your solution enrich minimal product information?</a:t>
            </a:r>
            <a:endParaRPr sz="1400" b="1">
              <a:solidFill>
                <a:srgbClr val="1A1A1A"/>
              </a:solidFill>
              <a:latin typeface="Arial" panose="020B0604020202020204" pitchFamily="34" charset="0"/>
              <a:cs typeface="Arial" panose="020B0604020202020204" pitchFamily="34" charset="0"/>
            </a:endParaRPr>
          </a:p>
        </p:txBody>
      </p:sp>
      <p:sp>
        <p:nvSpPr>
          <p:cNvPr id="8" name="TextBox 7"/>
          <p:cNvSpPr txBox="1"/>
          <p:nvPr/>
        </p:nvSpPr>
        <p:spPr>
          <a:xfrm>
            <a:off x="566928" y="1466723"/>
            <a:ext cx="11057839" cy="1346200"/>
          </a:xfrm>
          <a:prstGeom prst="rect">
            <a:avLst/>
          </a:prstGeom>
          <a:noFill/>
        </p:spPr>
        <p:txBody>
          <a:bodyPr wrap="square" lIns="0" tIns="0" rIns="0" bIns="0" anchor="t">
            <a:spAutoFit/>
          </a:bodyPr>
          <a:lstStyle/>
          <a:p>
            <a:pPr algn="l">
              <a:lnSpc>
                <a:spcPct val="125000"/>
              </a:lnSpc>
            </a:pPr>
            <a:r>
              <a:rPr sz="1400" b="0">
                <a:solidFill>
                  <a:srgbClr val="3C3C3C"/>
                </a:solidFill>
                <a:latin typeface="Arial" panose="020B0604020202020204" pitchFamily="34" charset="0"/>
                <a:cs typeface="Arial" panose="020B0604020202020204" pitchFamily="34" charset="0"/>
              </a:rPr>
              <a:t>Taxonomy first. The SKU is classified, and the class dictates exactly which attributes must exist, in which units, with which legal values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so extraction becomes “fill this schema” rather than “find what you can”, and completeness becomes measurable. Evidence is retrieved from the manufacturer datasheet, the product page, the catalog and any uploaded document, then read under a schema constraint that forces a verbatim citation. Normalisation collapses the dialects (DN 15 → 1/2″, CF8M → Stainless Steel 316, 138 bar ≡ 2000 psi). A 22-word supplier row becomes 22 attributes plus title, bullets, trade synonyms and facets.</a:t>
            </a:r>
            <a:endParaRPr sz="1400" b="0">
              <a:solidFill>
                <a:srgbClr val="3C3C3C"/>
              </a:solidFill>
              <a:latin typeface="Arial" panose="020B0604020202020204" pitchFamily="34" charset="0"/>
              <a:cs typeface="Arial" panose="020B0604020202020204" pitchFamily="34" charset="0"/>
            </a:endParaRPr>
          </a:p>
        </p:txBody>
      </p:sp>
      <p:sp>
        <p:nvSpPr>
          <p:cNvPr id="9" name="TextBox 8"/>
          <p:cNvSpPr txBox="1"/>
          <p:nvPr/>
        </p:nvSpPr>
        <p:spPr>
          <a:xfrm>
            <a:off x="502793" y="2903347"/>
            <a:ext cx="11057839"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2. How does your solution ensure accuracy and trust in the generated product data?</a:t>
            </a:r>
            <a:endParaRPr sz="1400" b="1">
              <a:solidFill>
                <a:srgbClr val="1A1A1A"/>
              </a:solidFill>
              <a:latin typeface="Arial" panose="020B0604020202020204" pitchFamily="34" charset="0"/>
              <a:cs typeface="Arial" panose="020B0604020202020204" pitchFamily="34" charset="0"/>
            </a:endParaRPr>
          </a:p>
        </p:txBody>
      </p:sp>
      <p:sp>
        <p:nvSpPr>
          <p:cNvPr id="10" name="TextBox 9"/>
          <p:cNvSpPr txBox="1"/>
          <p:nvPr/>
        </p:nvSpPr>
        <p:spPr>
          <a:xfrm>
            <a:off x="566928" y="3150235"/>
            <a:ext cx="11057839" cy="1573530"/>
          </a:xfrm>
          <a:prstGeom prst="rect">
            <a:avLst/>
          </a:prstGeom>
          <a:noFill/>
        </p:spPr>
        <p:txBody>
          <a:bodyPr wrap="square" lIns="0" tIns="0" rIns="0" bIns="0" anchor="t">
            <a:spAutoFit/>
          </a:bodyPr>
          <a:lstStyle/>
          <a:p>
            <a:pPr algn="l">
              <a:lnSpc>
                <a:spcPct val="122000"/>
              </a:lnSpc>
            </a:pPr>
            <a:r>
              <a:rPr sz="1400" b="0">
                <a:solidFill>
                  <a:srgbClr val="3C3C3C"/>
                </a:solidFill>
                <a:latin typeface="Arial" panose="020B0604020202020204" pitchFamily="34" charset="0"/>
                <a:cs typeface="Arial" panose="020B0604020202020204" pitchFamily="34" charset="0"/>
              </a:rPr>
              <a:t>Five layers, all of them visible in the UI:
●  Source authority ranking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manufacturer datasheet 1.00 &gt; web 0.92 &gt; catalog 0.84 &gt; distributor 0.66 &gt; marketplace 0.45.
●  Adversarial critic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a separate pass prompted to refute, not confirm; returns SUPPORTED / UNSUPPORTED / CONTRADICTED.
●  Rule-based validation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units, enum membership and plausible ranges; an out-of-range value is rejected outright.
●  Assembled confidence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authority + corroboration − conflict penalty × critic × reader quality. Never a guessed number.
●  Confidence gate + human queue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 92% publishes, 60–92% goes to a reviewer with the conflict shown, below that is dropped.</a:t>
            </a:r>
            <a:endParaRPr sz="1400" b="0">
              <a:solidFill>
                <a:srgbClr val="3C3C3C"/>
              </a:solidFill>
              <a:latin typeface="Arial" panose="020B0604020202020204" pitchFamily="34" charset="0"/>
              <a:cs typeface="Arial" panose="020B0604020202020204" pitchFamily="34" charset="0"/>
            </a:endParaRPr>
          </a:p>
        </p:txBody>
      </p:sp>
      <p:sp>
        <p:nvSpPr>
          <p:cNvPr id="11" name="TextBox 10"/>
          <p:cNvSpPr txBox="1"/>
          <p:nvPr/>
        </p:nvSpPr>
        <p:spPr>
          <a:xfrm>
            <a:off x="566928" y="4873371"/>
            <a:ext cx="11057839"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3. What makes your solution scalable for enterprise product catalogs?</a:t>
            </a:r>
            <a:endParaRPr sz="1400" b="1">
              <a:solidFill>
                <a:srgbClr val="1A1A1A"/>
              </a:solidFill>
              <a:latin typeface="Arial" panose="020B0604020202020204" pitchFamily="34" charset="0"/>
              <a:cs typeface="Arial" panose="020B0604020202020204" pitchFamily="34" charset="0"/>
            </a:endParaRPr>
          </a:p>
        </p:txBody>
      </p:sp>
      <p:sp>
        <p:nvSpPr>
          <p:cNvPr id="12" name="TextBox 11"/>
          <p:cNvSpPr txBox="1"/>
          <p:nvPr/>
        </p:nvSpPr>
        <p:spPr>
          <a:xfrm>
            <a:off x="566928" y="5193538"/>
            <a:ext cx="11057839" cy="997585"/>
          </a:xfrm>
          <a:prstGeom prst="rect">
            <a:avLst/>
          </a:prstGeom>
          <a:noFill/>
        </p:spPr>
        <p:txBody>
          <a:bodyPr wrap="square" lIns="0" tIns="0" rIns="0" bIns="0" anchor="t">
            <a:spAutoFit/>
          </a:bodyPr>
          <a:lstStyle/>
          <a:p>
            <a:pPr algn="l">
              <a:lnSpc>
                <a:spcPct val="116000"/>
              </a:lnSpc>
            </a:pPr>
            <a:r>
              <a:rPr sz="1400" b="0">
                <a:solidFill>
                  <a:srgbClr val="3C3C3C"/>
                </a:solidFill>
                <a:latin typeface="Arial" panose="020B0604020202020204" pitchFamily="34" charset="0"/>
                <a:cs typeface="Arial" panose="020B0604020202020204" pitchFamily="34" charset="0"/>
              </a:rPr>
              <a:t>●  Large catalogs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stateless serverless pipeline, two-tier model routing; 14 SKUs run in 39 ms deterministically.
●  New manufacturers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nothing is hard-coded to a brand; authority is by source type, so a new supplier needs no code.
●  Document formats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PDF, HTML, pasted specs and tables share one reader; a class is data, so a new category is JSON.
●  Continuous updates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re-running a SKU re-derives every value with a fresh trace; one table explodes into every part.</a:t>
            </a:r>
            <a:endParaRPr sz="1400" b="0">
              <a:solidFill>
                <a:srgbClr val="3C3C3C"/>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7" name="TextBox 6"/>
          <p:cNvSpPr txBox="1"/>
          <p:nvPr/>
        </p:nvSpPr>
        <p:spPr>
          <a:xfrm>
            <a:off x="566928" y="1257808"/>
            <a:ext cx="11057839" cy="424180"/>
          </a:xfrm>
          <a:prstGeom prst="rect">
            <a:avLst/>
          </a:prstGeom>
          <a:noFill/>
        </p:spPr>
        <p:txBody>
          <a:bodyPr wrap="square" lIns="0" tIns="0" rIns="0" bIns="0" anchor="t">
            <a:spAutoFit/>
          </a:bodyPr>
          <a:lstStyle/>
          <a:p>
            <a:pPr algn="l">
              <a:lnSpc>
                <a:spcPct val="115000"/>
              </a:lnSpc>
            </a:pPr>
            <a:r>
              <a:rPr sz="2400" b="0">
                <a:solidFill>
                  <a:srgbClr val="1A1A1A"/>
                </a:solidFill>
                <a:latin typeface="Arial" panose="020B0604020202020204" pitchFamily="34" charset="0"/>
                <a:cs typeface="Arial" panose="020B0604020202020204" pitchFamily="34" charset="0"/>
              </a:rPr>
              <a:t>Opportunities</a:t>
            </a:r>
            <a:endParaRPr sz="2400" b="0">
              <a:solidFill>
                <a:srgbClr val="1A1A1A"/>
              </a:solidFill>
              <a:latin typeface="Arial" panose="020B0604020202020204" pitchFamily="34" charset="0"/>
              <a:cs typeface="Arial" panose="020B0604020202020204" pitchFamily="34" charset="0"/>
            </a:endParaRPr>
          </a:p>
        </p:txBody>
      </p:sp>
      <p:sp>
        <p:nvSpPr>
          <p:cNvPr id="8" name="TextBox 7"/>
          <p:cNvSpPr txBox="1"/>
          <p:nvPr/>
        </p:nvSpPr>
        <p:spPr>
          <a:xfrm>
            <a:off x="1024128" y="1810385"/>
            <a:ext cx="10509199"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a.  How different is it from any of the other existing ideas?</a:t>
            </a:r>
            <a:endParaRPr sz="1400" b="1">
              <a:solidFill>
                <a:srgbClr val="1A1A1A"/>
              </a:solidFill>
              <a:latin typeface="Arial" panose="020B0604020202020204" pitchFamily="34" charset="0"/>
              <a:cs typeface="Arial" panose="020B0604020202020204" pitchFamily="34" charset="0"/>
            </a:endParaRPr>
          </a:p>
        </p:txBody>
      </p:sp>
      <p:sp>
        <p:nvSpPr>
          <p:cNvPr id="9" name="TextBox 8"/>
          <p:cNvSpPr txBox="1"/>
          <p:nvPr/>
        </p:nvSpPr>
        <p:spPr>
          <a:xfrm>
            <a:off x="1344168" y="2256282"/>
            <a:ext cx="10143439" cy="1076960"/>
          </a:xfrm>
          <a:prstGeom prst="rect">
            <a:avLst/>
          </a:prstGeom>
          <a:noFill/>
        </p:spPr>
        <p:txBody>
          <a:bodyPr wrap="square" lIns="0" tIns="0" rIns="0" bIns="0" anchor="t">
            <a:spAutoFit/>
          </a:bodyPr>
          <a:lstStyle/>
          <a:p>
            <a:pPr algn="l">
              <a:lnSpc>
                <a:spcPct val="125000"/>
              </a:lnSpc>
            </a:pPr>
            <a:r>
              <a:rPr sz="1400" b="0">
                <a:solidFill>
                  <a:srgbClr val="3C3C3C"/>
                </a:solidFill>
                <a:latin typeface="Arial" panose="020B0604020202020204" pitchFamily="34" charset="0"/>
                <a:cs typeface="Arial" panose="020B0604020202020204" pitchFamily="34" charset="0"/>
              </a:rPr>
              <a:t>Most tools stop at extraction and emit JSON you have to take on faith. Unify treats provenance as a data-model decision rather than a feature: every value is stored as {value, unit, source, span, method, confidence, critic verdict} from the first commit. It also refuses to collapse “wrong” into “unknown”</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a missing specification is a gap in the evidence, not a defect in the product and it answers “not found in the provided sources” instead of guessing.</a:t>
            </a:r>
            <a:endParaRPr sz="1400" b="0">
              <a:solidFill>
                <a:srgbClr val="3C3C3C"/>
              </a:solidFill>
              <a:latin typeface="Arial" panose="020B0604020202020204" pitchFamily="34" charset="0"/>
              <a:cs typeface="Arial" panose="020B0604020202020204" pitchFamily="34" charset="0"/>
            </a:endParaRPr>
          </a:p>
        </p:txBody>
      </p:sp>
      <p:sp>
        <p:nvSpPr>
          <p:cNvPr id="10" name="TextBox 9"/>
          <p:cNvSpPr txBox="1"/>
          <p:nvPr/>
        </p:nvSpPr>
        <p:spPr>
          <a:xfrm>
            <a:off x="1024128" y="3522980"/>
            <a:ext cx="10509199"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b.  How will it be able to solve the problem statement given?</a:t>
            </a:r>
            <a:endParaRPr sz="1400" b="1">
              <a:solidFill>
                <a:srgbClr val="1A1A1A"/>
              </a:solidFill>
              <a:latin typeface="Arial" panose="020B0604020202020204" pitchFamily="34" charset="0"/>
              <a:cs typeface="Arial" panose="020B0604020202020204" pitchFamily="34" charset="0"/>
            </a:endParaRPr>
          </a:p>
        </p:txBody>
      </p:sp>
      <p:sp>
        <p:nvSpPr>
          <p:cNvPr id="11" name="TextBox 10"/>
          <p:cNvSpPr txBox="1"/>
          <p:nvPr/>
        </p:nvSpPr>
        <p:spPr>
          <a:xfrm>
            <a:off x="1344168" y="3959352"/>
            <a:ext cx="10143439" cy="807720"/>
          </a:xfrm>
          <a:prstGeom prst="rect">
            <a:avLst/>
          </a:prstGeom>
          <a:noFill/>
        </p:spPr>
        <p:txBody>
          <a:bodyPr wrap="square" lIns="0" tIns="0" rIns="0" bIns="0" anchor="t">
            <a:spAutoFit/>
          </a:bodyPr>
          <a:lstStyle/>
          <a:p>
            <a:pPr algn="l">
              <a:lnSpc>
                <a:spcPct val="125000"/>
              </a:lnSpc>
            </a:pPr>
            <a:r>
              <a:rPr sz="1400" b="0">
                <a:solidFill>
                  <a:srgbClr val="3C3C3C"/>
                </a:solidFill>
                <a:latin typeface="Arial" panose="020B0604020202020204" pitchFamily="34" charset="0"/>
                <a:cs typeface="Arial" panose="020B0604020202020204" pitchFamily="34" charset="0"/>
              </a:rPr>
              <a:t>The brief asks for enrichment, validation and explainable outputs. They map one-to-one onto the build: the taxonomy-driven schema filler is the enrichment, the adversarial critic and the confidence gate are the validation, and the evidence drawer</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click any attribute, the source opens with the exact sentence highlighted</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is the explanation.</a:t>
            </a:r>
            <a:endParaRPr sz="1400" b="0">
              <a:solidFill>
                <a:srgbClr val="3C3C3C"/>
              </a:solidFill>
              <a:latin typeface="Arial" panose="020B0604020202020204" pitchFamily="34" charset="0"/>
              <a:cs typeface="Arial" panose="020B0604020202020204" pitchFamily="34" charset="0"/>
            </a:endParaRPr>
          </a:p>
        </p:txBody>
      </p:sp>
      <p:sp>
        <p:nvSpPr>
          <p:cNvPr id="12" name="TextBox 11"/>
          <p:cNvSpPr txBox="1"/>
          <p:nvPr/>
        </p:nvSpPr>
        <p:spPr>
          <a:xfrm>
            <a:off x="1024128" y="5074920"/>
            <a:ext cx="10509199"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c.  USP of the proposed solution</a:t>
            </a:r>
            <a:endParaRPr sz="1400" b="1">
              <a:solidFill>
                <a:srgbClr val="1A1A1A"/>
              </a:solidFill>
              <a:latin typeface="Arial" panose="020B0604020202020204" pitchFamily="34" charset="0"/>
              <a:cs typeface="Arial" panose="020B0604020202020204" pitchFamily="34" charset="0"/>
            </a:endParaRPr>
          </a:p>
        </p:txBody>
      </p:sp>
      <p:sp>
        <p:nvSpPr>
          <p:cNvPr id="13" name="Rectangle 12"/>
          <p:cNvSpPr/>
          <p:nvPr/>
        </p:nvSpPr>
        <p:spPr>
          <a:xfrm>
            <a:off x="1344168" y="5394960"/>
            <a:ext cx="10241280" cy="786384"/>
          </a:xfrm>
          <a:prstGeom prst="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14" name="TextBox 13"/>
          <p:cNvSpPr txBox="1"/>
          <p:nvPr/>
        </p:nvSpPr>
        <p:spPr>
          <a:xfrm>
            <a:off x="1527048" y="5504688"/>
            <a:ext cx="9875520" cy="538480"/>
          </a:xfrm>
          <a:prstGeom prst="rect">
            <a:avLst/>
          </a:prstGeom>
          <a:noFill/>
        </p:spPr>
        <p:txBody>
          <a:bodyPr wrap="square" lIns="0" tIns="0" rIns="0" bIns="0" anchor="t">
            <a:spAutoFit/>
          </a:bodyPr>
          <a:lstStyle/>
          <a:p>
            <a:pPr algn="l">
              <a:lnSpc>
                <a:spcPct val="125000"/>
              </a:lnSpc>
            </a:pPr>
            <a:r>
              <a:rPr sz="1400" b="1">
                <a:solidFill>
                  <a:srgbClr val="1A1A1A"/>
                </a:solidFill>
                <a:latin typeface="Arial" panose="020B0604020202020204" pitchFamily="34" charset="0"/>
                <a:cs typeface="Arial" panose="020B0604020202020204" pitchFamily="34" charset="0"/>
              </a:rPr>
              <a:t>“Every attribute carries its evidence.”  479/479 quotes anchored to real character offsets</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not a paraphrase, not a page number, the exact span. It is the only enrichment output a buyer can audit line by line.</a:t>
            </a:r>
            <a:endParaRPr sz="1400" b="1">
              <a:solidFill>
                <a:srgbClr val="1A1A1A"/>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7" name="TextBox 6"/>
          <p:cNvSpPr txBox="1"/>
          <p:nvPr/>
        </p:nvSpPr>
        <p:spPr>
          <a:xfrm>
            <a:off x="566928" y="1281303"/>
            <a:ext cx="11057839" cy="424180"/>
          </a:xfrm>
          <a:prstGeom prst="rect">
            <a:avLst/>
          </a:prstGeom>
          <a:noFill/>
        </p:spPr>
        <p:txBody>
          <a:bodyPr wrap="square" lIns="0" tIns="0" rIns="0" bIns="0" anchor="t">
            <a:spAutoFit/>
          </a:bodyPr>
          <a:lstStyle/>
          <a:p>
            <a:pPr algn="l">
              <a:lnSpc>
                <a:spcPct val="115000"/>
              </a:lnSpc>
            </a:pPr>
            <a:r>
              <a:rPr sz="2400" b="0">
                <a:solidFill>
                  <a:srgbClr val="1A1A1A"/>
                </a:solidFill>
                <a:latin typeface="Arial" panose="020B0604020202020204" pitchFamily="34" charset="0"/>
                <a:cs typeface="Arial" panose="020B0604020202020204" pitchFamily="34" charset="0"/>
              </a:rPr>
              <a:t>List of features offered by the solution</a:t>
            </a:r>
            <a:endParaRPr sz="2400" b="0">
              <a:solidFill>
                <a:srgbClr val="1A1A1A"/>
              </a:solidFill>
              <a:latin typeface="Arial" panose="020B0604020202020204" pitchFamily="34" charset="0"/>
              <a:cs typeface="Arial" panose="020B0604020202020204" pitchFamily="34" charset="0"/>
            </a:endParaRPr>
          </a:p>
        </p:txBody>
      </p:sp>
      <p:sp>
        <p:nvSpPr>
          <p:cNvPr id="8" name="TextBox 7"/>
          <p:cNvSpPr txBox="1"/>
          <p:nvPr/>
        </p:nvSpPr>
        <p:spPr>
          <a:xfrm>
            <a:off x="566928" y="2148840"/>
            <a:ext cx="5394960" cy="3411220"/>
          </a:xfrm>
          <a:prstGeom prst="rect">
            <a:avLst/>
          </a:prstGeom>
          <a:noFill/>
        </p:spPr>
        <p:txBody>
          <a:bodyPr wrap="square" lIns="0" tIns="0" rIns="0" bIns="0">
            <a:spAutoFit/>
          </a:bodyPr>
          <a:lstStyle/>
          <a:p>
            <a:pPr>
              <a:lnSpc>
                <a:spcPct val="125000"/>
              </a:lnSpc>
              <a:spcAft>
                <a:spcPts val="14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Taxonomy-driven enrichment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the class dictates the attribute schema, units and legal values.</a:t>
            </a:r>
            <a:endParaRPr sz="1400">
              <a:solidFill>
                <a:srgbClr val="3C3C3C"/>
              </a:solidFill>
              <a:latin typeface="Arial" panose="020B0604020202020204" pitchFamily="34" charset="0"/>
              <a:cs typeface="Arial" panose="020B0604020202020204" pitchFamily="34" charset="0"/>
            </a:endParaRPr>
          </a:p>
          <a:p>
            <a:pPr>
              <a:lnSpc>
                <a:spcPct val="125000"/>
              </a:lnSpc>
              <a:spcAft>
                <a:spcPts val="14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Attribute-level provenance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click any value to open the source with the cited span highlighted.</a:t>
            </a:r>
            <a:endParaRPr sz="1400">
              <a:solidFill>
                <a:srgbClr val="3C3C3C"/>
              </a:solidFill>
              <a:latin typeface="Arial" panose="020B0604020202020204" pitchFamily="34" charset="0"/>
              <a:cs typeface="Arial" panose="020B0604020202020204" pitchFamily="34" charset="0"/>
            </a:endParaRPr>
          </a:p>
          <a:p>
            <a:pPr>
              <a:lnSpc>
                <a:spcPct val="125000"/>
              </a:lnSpc>
              <a:spcAft>
                <a:spcPts val="14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Adversarial validation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a critic prompted to refute; contradicted values never reach the record.</a:t>
            </a:r>
            <a:endParaRPr sz="1400">
              <a:solidFill>
                <a:srgbClr val="3C3C3C"/>
              </a:solidFill>
              <a:latin typeface="Arial" panose="020B0604020202020204" pitchFamily="34" charset="0"/>
              <a:cs typeface="Arial" panose="020B0604020202020204" pitchFamily="34" charset="0"/>
            </a:endParaRPr>
          </a:p>
          <a:p>
            <a:pPr>
              <a:lnSpc>
                <a:spcPct val="125000"/>
              </a:lnSpc>
              <a:spcAft>
                <a:spcPts val="14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Conflict resolution on the record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both values kept, with how the tie was broken.</a:t>
            </a:r>
            <a:endParaRPr sz="1400">
              <a:solidFill>
                <a:srgbClr val="3C3C3C"/>
              </a:solidFill>
              <a:latin typeface="Arial" panose="020B0604020202020204" pitchFamily="34" charset="0"/>
              <a:cs typeface="Arial" panose="020B0604020202020204" pitchFamily="34" charset="0"/>
            </a:endParaRPr>
          </a:p>
          <a:p>
            <a:pPr>
              <a:lnSpc>
                <a:spcPct val="125000"/>
              </a:lnSpc>
              <a:spcAft>
                <a:spcPts val="14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Confidence gating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publish at ≥ 92%, human review between 60% and 92%.</a:t>
            </a:r>
            <a:endParaRPr sz="1400">
              <a:solidFill>
                <a:srgbClr val="3C3C3C"/>
              </a:solidFill>
              <a:latin typeface="Arial" panose="020B0604020202020204" pitchFamily="34" charset="0"/>
              <a:cs typeface="Arial" panose="020B0604020202020204" pitchFamily="34" charset="0"/>
            </a:endParaRPr>
          </a:p>
        </p:txBody>
      </p:sp>
      <p:sp>
        <p:nvSpPr>
          <p:cNvPr id="9" name="TextBox 8"/>
          <p:cNvSpPr txBox="1"/>
          <p:nvPr/>
        </p:nvSpPr>
        <p:spPr>
          <a:xfrm>
            <a:off x="6327648" y="2148840"/>
            <a:ext cx="5394960" cy="3411220"/>
          </a:xfrm>
          <a:prstGeom prst="rect">
            <a:avLst/>
          </a:prstGeom>
          <a:noFill/>
        </p:spPr>
        <p:txBody>
          <a:bodyPr wrap="square" lIns="0" tIns="0" rIns="0" bIns="0">
            <a:spAutoFit/>
          </a:bodyPr>
          <a:lstStyle/>
          <a:p>
            <a:pPr>
              <a:lnSpc>
                <a:spcPct val="125000"/>
              </a:lnSpc>
              <a:spcAft>
                <a:spcPts val="14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Multi-format ingest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PDF datasheets, fetched product URLs, pasted spec blocks.</a:t>
            </a:r>
            <a:endParaRPr sz="1400">
              <a:solidFill>
                <a:srgbClr val="3C3C3C"/>
              </a:solidFill>
              <a:latin typeface="Arial" panose="020B0604020202020204" pitchFamily="34" charset="0"/>
              <a:cs typeface="Arial" panose="020B0604020202020204" pitchFamily="34" charset="0"/>
            </a:endParaRPr>
          </a:p>
          <a:p>
            <a:pPr>
              <a:lnSpc>
                <a:spcPct val="125000"/>
              </a:lnSpc>
              <a:spcAft>
                <a:spcPts val="14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Ask the datasheet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grounded Q&amp;A with citations and an honest “not found”.</a:t>
            </a:r>
            <a:endParaRPr sz="1400">
              <a:solidFill>
                <a:srgbClr val="3C3C3C"/>
              </a:solidFill>
              <a:latin typeface="Arial" panose="020B0604020202020204" pitchFamily="34" charset="0"/>
              <a:cs typeface="Arial" panose="020B0604020202020204" pitchFamily="34" charset="0"/>
            </a:endParaRPr>
          </a:p>
          <a:p>
            <a:pPr>
              <a:lnSpc>
                <a:spcPct val="125000"/>
              </a:lnSpc>
              <a:spcAft>
                <a:spcPts val="14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Comparison copilot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plain-language requirements → matrix and a justified recommendation.</a:t>
            </a:r>
            <a:endParaRPr sz="1400">
              <a:solidFill>
                <a:srgbClr val="3C3C3C"/>
              </a:solidFill>
              <a:latin typeface="Arial" panose="020B0604020202020204" pitchFamily="34" charset="0"/>
              <a:cs typeface="Arial" panose="020B0604020202020204" pitchFamily="34" charset="0"/>
            </a:endParaRPr>
          </a:p>
          <a:p>
            <a:pPr>
              <a:lnSpc>
                <a:spcPct val="125000"/>
              </a:lnSpc>
              <a:spcAft>
                <a:spcPts val="14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Product knowledge graph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variants, alternatives, certifications and mating parts.</a:t>
            </a:r>
            <a:endParaRPr sz="1400">
              <a:solidFill>
                <a:srgbClr val="3C3C3C"/>
              </a:solidFill>
              <a:latin typeface="Arial" panose="020B0604020202020204" pitchFamily="34" charset="0"/>
              <a:cs typeface="Arial" panose="020B0604020202020204" pitchFamily="34" charset="0"/>
            </a:endParaRPr>
          </a:p>
          <a:p>
            <a:pPr>
              <a:lnSpc>
                <a:spcPct val="125000"/>
              </a:lnSpc>
              <a:spcAft>
                <a:spcPts val="14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Commerce output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SEO title, bullets, trade synonyms and facets from published values only.</a:t>
            </a:r>
            <a:endParaRPr sz="1400">
              <a:solidFill>
                <a:srgbClr val="3C3C3C"/>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7" name="TextBox 6"/>
          <p:cNvSpPr txBox="1"/>
          <p:nvPr/>
        </p:nvSpPr>
        <p:spPr>
          <a:xfrm>
            <a:off x="566928" y="1235583"/>
            <a:ext cx="11057839" cy="424180"/>
          </a:xfrm>
          <a:prstGeom prst="rect">
            <a:avLst/>
          </a:prstGeom>
          <a:noFill/>
        </p:spPr>
        <p:txBody>
          <a:bodyPr wrap="square" lIns="0" tIns="0" rIns="0" bIns="0" anchor="t">
            <a:spAutoFit/>
          </a:bodyPr>
          <a:lstStyle/>
          <a:p>
            <a:pPr algn="l">
              <a:lnSpc>
                <a:spcPct val="115000"/>
              </a:lnSpc>
            </a:pPr>
            <a:r>
              <a:rPr sz="2400" b="0">
                <a:solidFill>
                  <a:srgbClr val="1A1A1A"/>
                </a:solidFill>
                <a:latin typeface="Arial" panose="020B0604020202020204" pitchFamily="34" charset="0"/>
                <a:cs typeface="Arial" panose="020B0604020202020204" pitchFamily="34" charset="0"/>
              </a:rPr>
              <a:t>Process flow diagram</a:t>
            </a:r>
            <a:endParaRPr sz="2400" b="0">
              <a:solidFill>
                <a:srgbClr val="1A1A1A"/>
              </a:solidFill>
              <a:latin typeface="Arial" panose="020B0604020202020204" pitchFamily="34" charset="0"/>
              <a:cs typeface="Arial" panose="020B0604020202020204" pitchFamily="34" charset="0"/>
            </a:endParaRPr>
          </a:p>
        </p:txBody>
      </p:sp>
      <p:sp>
        <p:nvSpPr>
          <p:cNvPr id="8" name="Rounded Rectangle 7"/>
          <p:cNvSpPr/>
          <p:nvPr/>
        </p:nvSpPr>
        <p:spPr>
          <a:xfrm>
            <a:off x="566928" y="2606040"/>
            <a:ext cx="1298448" cy="137160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E88E5"/>
                </a:solidFill>
                <a:latin typeface="Arial" panose="020B0604020202020204" pitchFamily="34" charset="0"/>
                <a:cs typeface="Arial" panose="020B0604020202020204" pitchFamily="34" charset="0"/>
              </a:rPr>
              <a:t>01
</a:t>
            </a:r>
            <a:r>
              <a:rPr sz="1400" b="1">
                <a:solidFill>
                  <a:srgbClr val="1A1A1A"/>
                </a:solidFill>
                <a:latin typeface="Arial" panose="020B0604020202020204" pitchFamily="34" charset="0"/>
                <a:cs typeface="Arial" panose="020B0604020202020204" pitchFamily="34" charset="0"/>
              </a:rPr>
              <a:t>Classify
</a:t>
            </a:r>
            <a:r>
              <a:rPr sz="1400">
                <a:solidFill>
                  <a:srgbClr val="6B6B6B"/>
                </a:solidFill>
                <a:latin typeface="Arial" panose="020B0604020202020204" pitchFamily="34" charset="0"/>
                <a:cs typeface="Arial" panose="020B0604020202020204" pitchFamily="34" charset="0"/>
              </a:rPr>
              <a:t>taxonomy +
attribute schema</a:t>
            </a:r>
            <a:endParaRPr sz="1400">
              <a:solidFill>
                <a:srgbClr val="6B6B6B"/>
              </a:solidFill>
              <a:latin typeface="Arial" panose="020B0604020202020204" pitchFamily="34" charset="0"/>
              <a:cs typeface="Arial" panose="020B0604020202020204" pitchFamily="34" charset="0"/>
            </a:endParaRPr>
          </a:p>
        </p:txBody>
      </p:sp>
      <p:sp>
        <p:nvSpPr>
          <p:cNvPr id="9" name="Right Arrow 8"/>
          <p:cNvSpPr/>
          <p:nvPr/>
        </p:nvSpPr>
        <p:spPr>
          <a:xfrm>
            <a:off x="1869948" y="3236976"/>
            <a:ext cx="91440" cy="109728"/>
          </a:xfrm>
          <a:prstGeom prst="rightArrow">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400">
              <a:latin typeface="Arial" panose="020B0604020202020204" pitchFamily="34" charset="0"/>
              <a:cs typeface="Arial" panose="020B0604020202020204" pitchFamily="34" charset="0"/>
            </a:endParaRPr>
          </a:p>
        </p:txBody>
      </p:sp>
      <p:sp>
        <p:nvSpPr>
          <p:cNvPr id="10" name="Rounded Rectangle 9"/>
          <p:cNvSpPr/>
          <p:nvPr/>
        </p:nvSpPr>
        <p:spPr>
          <a:xfrm>
            <a:off x="1965960" y="2606040"/>
            <a:ext cx="1298448" cy="137160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E88E5"/>
                </a:solidFill>
                <a:latin typeface="Arial" panose="020B0604020202020204" pitchFamily="34" charset="0"/>
                <a:cs typeface="Arial" panose="020B0604020202020204" pitchFamily="34" charset="0"/>
              </a:rPr>
              <a:t>02
</a:t>
            </a:r>
            <a:r>
              <a:rPr sz="1400" b="1">
                <a:solidFill>
                  <a:srgbClr val="1A1A1A"/>
                </a:solidFill>
                <a:latin typeface="Arial" panose="020B0604020202020204" pitchFamily="34" charset="0"/>
                <a:cs typeface="Arial" panose="020B0604020202020204" pitchFamily="34" charset="0"/>
              </a:rPr>
              <a:t>Retrieve
</a:t>
            </a:r>
            <a:r>
              <a:rPr sz="1400">
                <a:solidFill>
                  <a:srgbClr val="6B6B6B"/>
                </a:solidFill>
                <a:latin typeface="Arial" panose="020B0604020202020204" pitchFamily="34" charset="0"/>
                <a:cs typeface="Arial" panose="020B0604020202020204" pitchFamily="34" charset="0"/>
              </a:rPr>
              <a:t>authority-ranked
evidence</a:t>
            </a:r>
            <a:endParaRPr sz="1400">
              <a:solidFill>
                <a:srgbClr val="6B6B6B"/>
              </a:solidFill>
              <a:latin typeface="Arial" panose="020B0604020202020204" pitchFamily="34" charset="0"/>
              <a:cs typeface="Arial" panose="020B0604020202020204" pitchFamily="34" charset="0"/>
            </a:endParaRPr>
          </a:p>
        </p:txBody>
      </p:sp>
      <p:sp>
        <p:nvSpPr>
          <p:cNvPr id="11" name="Right Arrow 10"/>
          <p:cNvSpPr/>
          <p:nvPr/>
        </p:nvSpPr>
        <p:spPr>
          <a:xfrm>
            <a:off x="3268980" y="3236976"/>
            <a:ext cx="91440" cy="109728"/>
          </a:xfrm>
          <a:prstGeom prst="rightArrow">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400">
              <a:latin typeface="Arial" panose="020B0604020202020204" pitchFamily="34" charset="0"/>
              <a:cs typeface="Arial" panose="020B0604020202020204" pitchFamily="34" charset="0"/>
            </a:endParaRPr>
          </a:p>
        </p:txBody>
      </p:sp>
      <p:sp>
        <p:nvSpPr>
          <p:cNvPr id="12" name="Rounded Rectangle 11"/>
          <p:cNvSpPr/>
          <p:nvPr/>
        </p:nvSpPr>
        <p:spPr>
          <a:xfrm>
            <a:off x="3364992" y="2606040"/>
            <a:ext cx="1298448" cy="137160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E88E5"/>
                </a:solidFill>
                <a:latin typeface="Arial" panose="020B0604020202020204" pitchFamily="34" charset="0"/>
                <a:cs typeface="Arial" panose="020B0604020202020204" pitchFamily="34" charset="0"/>
              </a:rPr>
              <a:t>03
</a:t>
            </a:r>
            <a:r>
              <a:rPr sz="1400" b="1">
                <a:solidFill>
                  <a:srgbClr val="1A1A1A"/>
                </a:solidFill>
                <a:latin typeface="Arial" panose="020B0604020202020204" pitchFamily="34" charset="0"/>
                <a:cs typeface="Arial" panose="020B0604020202020204" pitchFamily="34" charset="0"/>
              </a:rPr>
              <a:t>Extract
</a:t>
            </a:r>
            <a:r>
              <a:rPr sz="1400">
                <a:solidFill>
                  <a:srgbClr val="6B6B6B"/>
                </a:solidFill>
                <a:latin typeface="Arial" panose="020B0604020202020204" pitchFamily="34" charset="0"/>
                <a:cs typeface="Arial" panose="020B0604020202020204" pitchFamily="34" charset="0"/>
              </a:rPr>
              <a:t>schema-constrained,
cited</a:t>
            </a:r>
            <a:endParaRPr sz="1400">
              <a:solidFill>
                <a:srgbClr val="6B6B6B"/>
              </a:solidFill>
              <a:latin typeface="Arial" panose="020B0604020202020204" pitchFamily="34" charset="0"/>
              <a:cs typeface="Arial" panose="020B0604020202020204" pitchFamily="34" charset="0"/>
            </a:endParaRPr>
          </a:p>
        </p:txBody>
      </p:sp>
      <p:sp>
        <p:nvSpPr>
          <p:cNvPr id="13" name="Right Arrow 12"/>
          <p:cNvSpPr/>
          <p:nvPr/>
        </p:nvSpPr>
        <p:spPr>
          <a:xfrm>
            <a:off x="4668012" y="3236976"/>
            <a:ext cx="91440" cy="109728"/>
          </a:xfrm>
          <a:prstGeom prst="rightArrow">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400">
              <a:latin typeface="Arial" panose="020B0604020202020204" pitchFamily="34" charset="0"/>
              <a:cs typeface="Arial" panose="020B0604020202020204" pitchFamily="34" charset="0"/>
            </a:endParaRPr>
          </a:p>
        </p:txBody>
      </p:sp>
      <p:sp>
        <p:nvSpPr>
          <p:cNvPr id="14" name="Rounded Rectangle 13"/>
          <p:cNvSpPr/>
          <p:nvPr/>
        </p:nvSpPr>
        <p:spPr>
          <a:xfrm>
            <a:off x="4764024" y="2606040"/>
            <a:ext cx="1298448" cy="137160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E88E5"/>
                </a:solidFill>
                <a:latin typeface="Arial" panose="020B0604020202020204" pitchFamily="34" charset="0"/>
                <a:cs typeface="Arial" panose="020B0604020202020204" pitchFamily="34" charset="0"/>
              </a:rPr>
              <a:t>04
</a:t>
            </a:r>
            <a:r>
              <a:rPr sz="1400" b="1">
                <a:solidFill>
                  <a:srgbClr val="1A1A1A"/>
                </a:solidFill>
                <a:latin typeface="Arial" panose="020B0604020202020204" pitchFamily="34" charset="0"/>
                <a:cs typeface="Arial" panose="020B0604020202020204" pitchFamily="34" charset="0"/>
              </a:rPr>
              <a:t>Normalize
</a:t>
            </a:r>
            <a:r>
              <a:rPr sz="1400">
                <a:solidFill>
                  <a:srgbClr val="6B6B6B"/>
                </a:solidFill>
                <a:latin typeface="Arial" panose="020B0604020202020204" pitchFamily="34" charset="0"/>
                <a:cs typeface="Arial" panose="020B0604020202020204" pitchFamily="34" charset="0"/>
              </a:rPr>
              <a:t>units, enums,
ranges</a:t>
            </a:r>
            <a:endParaRPr sz="1400">
              <a:solidFill>
                <a:srgbClr val="6B6B6B"/>
              </a:solidFill>
              <a:latin typeface="Arial" panose="020B0604020202020204" pitchFamily="34" charset="0"/>
              <a:cs typeface="Arial" panose="020B0604020202020204" pitchFamily="34" charset="0"/>
            </a:endParaRPr>
          </a:p>
        </p:txBody>
      </p:sp>
      <p:sp>
        <p:nvSpPr>
          <p:cNvPr id="15" name="Right Arrow 14"/>
          <p:cNvSpPr/>
          <p:nvPr/>
        </p:nvSpPr>
        <p:spPr>
          <a:xfrm>
            <a:off x="6067044" y="3236976"/>
            <a:ext cx="91440" cy="109728"/>
          </a:xfrm>
          <a:prstGeom prst="rightArrow">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400">
              <a:latin typeface="Arial" panose="020B0604020202020204" pitchFamily="34" charset="0"/>
              <a:cs typeface="Arial" panose="020B0604020202020204" pitchFamily="34" charset="0"/>
            </a:endParaRPr>
          </a:p>
        </p:txBody>
      </p:sp>
      <p:sp>
        <p:nvSpPr>
          <p:cNvPr id="16" name="Rounded Rectangle 15"/>
          <p:cNvSpPr/>
          <p:nvPr/>
        </p:nvSpPr>
        <p:spPr>
          <a:xfrm>
            <a:off x="6163056" y="2606040"/>
            <a:ext cx="1298448" cy="137160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E88E5"/>
                </a:solidFill>
                <a:latin typeface="Arial" panose="020B0604020202020204" pitchFamily="34" charset="0"/>
                <a:cs typeface="Arial" panose="020B0604020202020204" pitchFamily="34" charset="0"/>
              </a:rPr>
              <a:t>05
</a:t>
            </a:r>
            <a:r>
              <a:rPr sz="1400" b="1">
                <a:solidFill>
                  <a:srgbClr val="1A1A1A"/>
                </a:solidFill>
                <a:latin typeface="Arial" panose="020B0604020202020204" pitchFamily="34" charset="0"/>
                <a:cs typeface="Arial" panose="020B0604020202020204" pitchFamily="34" charset="0"/>
              </a:rPr>
              <a:t>Critique
</a:t>
            </a:r>
            <a:r>
              <a:rPr sz="1400">
                <a:solidFill>
                  <a:srgbClr val="6B6B6B"/>
                </a:solidFill>
                <a:latin typeface="Arial" panose="020B0604020202020204" pitchFamily="34" charset="0"/>
                <a:cs typeface="Arial" panose="020B0604020202020204" pitchFamily="34" charset="0"/>
              </a:rPr>
              <a:t>adversarial
refutation</a:t>
            </a:r>
            <a:endParaRPr sz="1400">
              <a:solidFill>
                <a:srgbClr val="6B6B6B"/>
              </a:solidFill>
              <a:latin typeface="Arial" panose="020B0604020202020204" pitchFamily="34" charset="0"/>
              <a:cs typeface="Arial" panose="020B0604020202020204" pitchFamily="34" charset="0"/>
            </a:endParaRPr>
          </a:p>
        </p:txBody>
      </p:sp>
      <p:sp>
        <p:nvSpPr>
          <p:cNvPr id="17" name="Right Arrow 16"/>
          <p:cNvSpPr/>
          <p:nvPr/>
        </p:nvSpPr>
        <p:spPr>
          <a:xfrm>
            <a:off x="7466076" y="3236976"/>
            <a:ext cx="91440" cy="109728"/>
          </a:xfrm>
          <a:prstGeom prst="rightArrow">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400">
              <a:latin typeface="Arial" panose="020B0604020202020204" pitchFamily="34" charset="0"/>
              <a:cs typeface="Arial" panose="020B0604020202020204" pitchFamily="34" charset="0"/>
            </a:endParaRPr>
          </a:p>
        </p:txBody>
      </p:sp>
      <p:sp>
        <p:nvSpPr>
          <p:cNvPr id="18" name="Rounded Rectangle 17"/>
          <p:cNvSpPr/>
          <p:nvPr/>
        </p:nvSpPr>
        <p:spPr>
          <a:xfrm>
            <a:off x="7562088" y="2606040"/>
            <a:ext cx="1298448" cy="137160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E88E5"/>
                </a:solidFill>
                <a:latin typeface="Arial" panose="020B0604020202020204" pitchFamily="34" charset="0"/>
                <a:cs typeface="Arial" panose="020B0604020202020204" pitchFamily="34" charset="0"/>
              </a:rPr>
              <a:t>06
</a:t>
            </a:r>
            <a:r>
              <a:rPr sz="1400" b="1">
                <a:solidFill>
                  <a:srgbClr val="1A1A1A"/>
                </a:solidFill>
                <a:latin typeface="Arial" panose="020B0604020202020204" pitchFamily="34" charset="0"/>
                <a:cs typeface="Arial" panose="020B0604020202020204" pitchFamily="34" charset="0"/>
              </a:rPr>
              <a:t>Resolve
</a:t>
            </a:r>
            <a:r>
              <a:rPr sz="1400">
                <a:solidFill>
                  <a:srgbClr val="6B6B6B"/>
                </a:solidFill>
                <a:latin typeface="Arial" panose="020B0604020202020204" pitchFamily="34" charset="0"/>
                <a:cs typeface="Arial" panose="020B0604020202020204" pitchFamily="34" charset="0"/>
              </a:rPr>
              <a:t>conflicts +
confidence</a:t>
            </a:r>
            <a:endParaRPr sz="1400">
              <a:solidFill>
                <a:srgbClr val="6B6B6B"/>
              </a:solidFill>
              <a:latin typeface="Arial" panose="020B0604020202020204" pitchFamily="34" charset="0"/>
              <a:cs typeface="Arial" panose="020B0604020202020204" pitchFamily="34" charset="0"/>
            </a:endParaRPr>
          </a:p>
        </p:txBody>
      </p:sp>
      <p:sp>
        <p:nvSpPr>
          <p:cNvPr id="19" name="Right Arrow 18"/>
          <p:cNvSpPr/>
          <p:nvPr/>
        </p:nvSpPr>
        <p:spPr>
          <a:xfrm>
            <a:off x="8865108" y="3236976"/>
            <a:ext cx="91440" cy="109728"/>
          </a:xfrm>
          <a:prstGeom prst="rightArrow">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400">
              <a:latin typeface="Arial" panose="020B0604020202020204" pitchFamily="34" charset="0"/>
              <a:cs typeface="Arial" panose="020B0604020202020204" pitchFamily="34" charset="0"/>
            </a:endParaRPr>
          </a:p>
        </p:txBody>
      </p:sp>
      <p:sp>
        <p:nvSpPr>
          <p:cNvPr id="20" name="Rounded Rectangle 19"/>
          <p:cNvSpPr/>
          <p:nvPr/>
        </p:nvSpPr>
        <p:spPr>
          <a:xfrm>
            <a:off x="8961120" y="2606040"/>
            <a:ext cx="1298448" cy="137160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E88E5"/>
                </a:solidFill>
                <a:latin typeface="Arial" panose="020B0604020202020204" pitchFamily="34" charset="0"/>
                <a:cs typeface="Arial" panose="020B0604020202020204" pitchFamily="34" charset="0"/>
              </a:rPr>
              <a:t>07
</a:t>
            </a:r>
            <a:r>
              <a:rPr sz="1400" b="1">
                <a:solidFill>
                  <a:srgbClr val="1A1A1A"/>
                </a:solidFill>
                <a:latin typeface="Arial" panose="020B0604020202020204" pitchFamily="34" charset="0"/>
                <a:cs typeface="Arial" panose="020B0604020202020204" pitchFamily="34" charset="0"/>
              </a:rPr>
              <a:t>Gate
</a:t>
            </a:r>
            <a:r>
              <a:rPr sz="1400">
                <a:solidFill>
                  <a:srgbClr val="6B6B6B"/>
                </a:solidFill>
                <a:latin typeface="Arial" panose="020B0604020202020204" pitchFamily="34" charset="0"/>
                <a:cs typeface="Arial" panose="020B0604020202020204" pitchFamily="34" charset="0"/>
              </a:rPr>
              <a:t>publish / review /
reject</a:t>
            </a:r>
            <a:endParaRPr sz="1400">
              <a:solidFill>
                <a:srgbClr val="6B6B6B"/>
              </a:solidFill>
              <a:latin typeface="Arial" panose="020B0604020202020204" pitchFamily="34" charset="0"/>
              <a:cs typeface="Arial" panose="020B0604020202020204" pitchFamily="34" charset="0"/>
            </a:endParaRPr>
          </a:p>
        </p:txBody>
      </p:sp>
      <p:sp>
        <p:nvSpPr>
          <p:cNvPr id="21" name="Right Arrow 20"/>
          <p:cNvSpPr/>
          <p:nvPr/>
        </p:nvSpPr>
        <p:spPr>
          <a:xfrm>
            <a:off x="10264140" y="3236976"/>
            <a:ext cx="91440" cy="109728"/>
          </a:xfrm>
          <a:prstGeom prst="rightArrow">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400">
              <a:latin typeface="Arial" panose="020B0604020202020204" pitchFamily="34" charset="0"/>
              <a:cs typeface="Arial" panose="020B0604020202020204" pitchFamily="34" charset="0"/>
            </a:endParaRPr>
          </a:p>
        </p:txBody>
      </p:sp>
      <p:sp>
        <p:nvSpPr>
          <p:cNvPr id="22" name="Rounded Rectangle 21"/>
          <p:cNvSpPr/>
          <p:nvPr/>
        </p:nvSpPr>
        <p:spPr>
          <a:xfrm>
            <a:off x="10360152" y="2606040"/>
            <a:ext cx="1298448" cy="137160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E88E5"/>
                </a:solidFill>
                <a:latin typeface="Arial" panose="020B0604020202020204" pitchFamily="34" charset="0"/>
                <a:cs typeface="Arial" panose="020B0604020202020204" pitchFamily="34" charset="0"/>
              </a:rPr>
              <a:t>08
</a:t>
            </a:r>
            <a:r>
              <a:rPr sz="1400" b="1">
                <a:solidFill>
                  <a:srgbClr val="1A1A1A"/>
                </a:solidFill>
                <a:latin typeface="Arial" panose="020B0604020202020204" pitchFamily="34" charset="0"/>
                <a:cs typeface="Arial" panose="020B0604020202020204" pitchFamily="34" charset="0"/>
              </a:rPr>
              <a:t>Compose
</a:t>
            </a:r>
            <a:r>
              <a:rPr sz="1400">
                <a:solidFill>
                  <a:srgbClr val="6B6B6B"/>
                </a:solidFill>
                <a:latin typeface="Arial" panose="020B0604020202020204" pitchFamily="34" charset="0"/>
                <a:cs typeface="Arial" panose="020B0604020202020204" pitchFamily="34" charset="0"/>
              </a:rPr>
              <a:t>SEO, synonyms,
facets</a:t>
            </a:r>
            <a:endParaRPr sz="1400">
              <a:solidFill>
                <a:srgbClr val="6B6B6B"/>
              </a:solidFill>
              <a:latin typeface="Arial" panose="020B0604020202020204" pitchFamily="34" charset="0"/>
              <a:cs typeface="Arial" panose="020B0604020202020204" pitchFamily="34" charset="0"/>
            </a:endParaRPr>
          </a:p>
        </p:txBody>
      </p:sp>
      <p:sp>
        <p:nvSpPr>
          <p:cNvPr id="23" name="TextBox 22"/>
          <p:cNvSpPr txBox="1"/>
          <p:nvPr/>
        </p:nvSpPr>
        <p:spPr>
          <a:xfrm>
            <a:off x="566928" y="1882901"/>
            <a:ext cx="11057839" cy="2470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Input: MPN + brand + one abbreviated supplier line, plus any document the user attaches.</a:t>
            </a:r>
            <a:endParaRPr sz="1400" b="0">
              <a:solidFill>
                <a:srgbClr val="6B6B6B"/>
              </a:solidFill>
              <a:latin typeface="Arial" panose="020B0604020202020204" pitchFamily="34" charset="0"/>
              <a:cs typeface="Arial" panose="020B0604020202020204" pitchFamily="34" charset="0"/>
            </a:endParaRPr>
          </a:p>
        </p:txBody>
      </p:sp>
      <p:sp>
        <p:nvSpPr>
          <p:cNvPr id="24" name="Rounded Rectangle 23"/>
          <p:cNvSpPr/>
          <p:nvPr/>
        </p:nvSpPr>
        <p:spPr>
          <a:xfrm>
            <a:off x="566928" y="4526280"/>
            <a:ext cx="3584448" cy="786384"/>
          </a:xfrm>
          <a:prstGeom prst="roundRect">
            <a:avLst/>
          </a:prstGeom>
          <a:solidFill>
            <a:srgbClr val="FFFFFF"/>
          </a:solidFill>
          <a:ln w="15875">
            <a:solidFill>
              <a:srgbClr val="12864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a:solidFill>
                  <a:srgbClr val="12864A"/>
                </a:solidFill>
                <a:latin typeface="Arial" panose="020B0604020202020204" pitchFamily="34" charset="0"/>
                <a:cs typeface="Arial" panose="020B0604020202020204" pitchFamily="34" charset="0"/>
              </a:rPr>
              <a:t>Published
</a:t>
            </a:r>
            <a:r>
              <a:rPr sz="1400">
                <a:solidFill>
                  <a:srgbClr val="6B6B6B"/>
                </a:solidFill>
                <a:latin typeface="Arial" panose="020B0604020202020204" pitchFamily="34" charset="0"/>
                <a:cs typeface="Arial" panose="020B0604020202020204" pitchFamily="34" charset="0"/>
              </a:rPr>
              <a:t>≥ 92% confidence </a:t>
            </a:r>
            <a:r>
              <a:rPr lang="en-US" sz="1400">
                <a:solidFill>
                  <a:srgbClr val="6B6B6B"/>
                </a:solidFill>
                <a:latin typeface="Arial" panose="020B0604020202020204" pitchFamily="34" charset="0"/>
                <a:cs typeface="Arial" panose="020B0604020202020204" pitchFamily="34" charset="0"/>
              </a:rPr>
              <a:t>:</a:t>
            </a:r>
            <a:r>
              <a:rPr sz="1400">
                <a:solidFill>
                  <a:srgbClr val="6B6B6B"/>
                </a:solidFill>
                <a:latin typeface="Arial" panose="020B0604020202020204" pitchFamily="34" charset="0"/>
                <a:cs typeface="Arial" panose="020B0604020202020204" pitchFamily="34" charset="0"/>
              </a:rPr>
              <a:t> straight to the storefront</a:t>
            </a:r>
            <a:endParaRPr sz="1400">
              <a:solidFill>
                <a:srgbClr val="6B6B6B"/>
              </a:solidFill>
              <a:latin typeface="Arial" panose="020B0604020202020204" pitchFamily="34" charset="0"/>
              <a:cs typeface="Arial" panose="020B0604020202020204" pitchFamily="34" charset="0"/>
            </a:endParaRPr>
          </a:p>
        </p:txBody>
      </p:sp>
      <p:sp>
        <p:nvSpPr>
          <p:cNvPr id="25" name="Rounded Rectangle 24"/>
          <p:cNvSpPr/>
          <p:nvPr/>
        </p:nvSpPr>
        <p:spPr>
          <a:xfrm>
            <a:off x="4334256" y="4526280"/>
            <a:ext cx="3584448" cy="786384"/>
          </a:xfrm>
          <a:prstGeom prst="roundRect">
            <a:avLst/>
          </a:prstGeom>
          <a:solidFill>
            <a:srgbClr val="FFFFFF"/>
          </a:solidFill>
          <a:ln w="15875">
            <a:solidFill>
              <a:srgbClr val="B06A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a:solidFill>
                  <a:srgbClr val="B06A00"/>
                </a:solidFill>
                <a:latin typeface="Arial" panose="020B0604020202020204" pitchFamily="34" charset="0"/>
                <a:cs typeface="Arial" panose="020B0604020202020204" pitchFamily="34" charset="0"/>
              </a:rPr>
              <a:t>Human review
</a:t>
            </a:r>
            <a:r>
              <a:rPr sz="1400">
                <a:solidFill>
                  <a:srgbClr val="6B6B6B"/>
                </a:solidFill>
                <a:latin typeface="Arial" panose="020B0604020202020204" pitchFamily="34" charset="0"/>
                <a:cs typeface="Arial" panose="020B0604020202020204" pitchFamily="34" charset="0"/>
              </a:rPr>
              <a:t>60–92% </a:t>
            </a:r>
            <a:r>
              <a:rPr lang="en-US" sz="1400">
                <a:solidFill>
                  <a:srgbClr val="6B6B6B"/>
                </a:solidFill>
                <a:latin typeface="Arial" panose="020B0604020202020204" pitchFamily="34" charset="0"/>
                <a:cs typeface="Arial" panose="020B0604020202020204" pitchFamily="34" charset="0"/>
              </a:rPr>
              <a:t>:</a:t>
            </a:r>
            <a:r>
              <a:rPr sz="1400">
                <a:solidFill>
                  <a:srgbClr val="6B6B6B"/>
                </a:solidFill>
                <a:latin typeface="Arial" panose="020B0604020202020204" pitchFamily="34" charset="0"/>
                <a:cs typeface="Arial" panose="020B0604020202020204" pitchFamily="34" charset="0"/>
              </a:rPr>
              <a:t> queued with the conflict shown</a:t>
            </a:r>
            <a:endParaRPr sz="1400">
              <a:solidFill>
                <a:srgbClr val="6B6B6B"/>
              </a:solidFill>
              <a:latin typeface="Arial" panose="020B0604020202020204" pitchFamily="34" charset="0"/>
              <a:cs typeface="Arial" panose="020B0604020202020204" pitchFamily="34" charset="0"/>
            </a:endParaRPr>
          </a:p>
        </p:txBody>
      </p:sp>
      <p:sp>
        <p:nvSpPr>
          <p:cNvPr id="26" name="Rounded Rectangle 25"/>
          <p:cNvSpPr/>
          <p:nvPr/>
        </p:nvSpPr>
        <p:spPr>
          <a:xfrm>
            <a:off x="8101584" y="4526280"/>
            <a:ext cx="3584448" cy="786384"/>
          </a:xfrm>
          <a:prstGeom prst="roundRect">
            <a:avLst/>
          </a:prstGeom>
          <a:solidFill>
            <a:srgbClr val="FFFFFF"/>
          </a:solidFill>
          <a:ln w="15875">
            <a:solidFill>
              <a:srgbClr val="C62D2D"/>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a:solidFill>
                  <a:srgbClr val="C62D2D"/>
                </a:solidFill>
                <a:latin typeface="Arial" panose="020B0604020202020204" pitchFamily="34" charset="0"/>
                <a:cs typeface="Arial" panose="020B0604020202020204" pitchFamily="34" charset="0"/>
              </a:rPr>
              <a:t>Refuted / rejected
</a:t>
            </a:r>
            <a:r>
              <a:rPr sz="1400">
                <a:solidFill>
                  <a:srgbClr val="6B6B6B"/>
                </a:solidFill>
                <a:latin typeface="Arial" panose="020B0604020202020204" pitchFamily="34" charset="0"/>
                <a:cs typeface="Arial" panose="020B0604020202020204" pitchFamily="34" charset="0"/>
              </a:rPr>
              <a:t>contradicted or implausible </a:t>
            </a:r>
            <a:r>
              <a:rPr lang="en-US" sz="1400">
                <a:solidFill>
                  <a:srgbClr val="6B6B6B"/>
                </a:solidFill>
                <a:latin typeface="Arial" panose="020B0604020202020204" pitchFamily="34" charset="0"/>
                <a:cs typeface="Arial" panose="020B0604020202020204" pitchFamily="34" charset="0"/>
              </a:rPr>
              <a:t>:</a:t>
            </a:r>
            <a:r>
              <a:rPr sz="1400">
                <a:solidFill>
                  <a:srgbClr val="6B6B6B"/>
                </a:solidFill>
                <a:latin typeface="Arial" panose="020B0604020202020204" pitchFamily="34" charset="0"/>
                <a:cs typeface="Arial" panose="020B0604020202020204" pitchFamily="34" charset="0"/>
              </a:rPr>
              <a:t> never published</a:t>
            </a:r>
            <a:endParaRPr sz="1400">
              <a:solidFill>
                <a:srgbClr val="6B6B6B"/>
              </a:solidFill>
              <a:latin typeface="Arial" panose="020B0604020202020204" pitchFamily="34" charset="0"/>
              <a:cs typeface="Arial" panose="020B0604020202020204" pitchFamily="34" charset="0"/>
            </a:endParaRPr>
          </a:p>
        </p:txBody>
      </p:sp>
      <p:sp>
        <p:nvSpPr>
          <p:cNvPr id="27" name="TextBox 26"/>
          <p:cNvSpPr txBox="1"/>
          <p:nvPr/>
        </p:nvSpPr>
        <p:spPr>
          <a:xfrm>
            <a:off x="566928" y="5577840"/>
            <a:ext cx="11057839" cy="538480"/>
          </a:xfrm>
          <a:prstGeom prst="rect">
            <a:avLst/>
          </a:prstGeom>
          <a:noFill/>
        </p:spPr>
        <p:txBody>
          <a:bodyPr wrap="square" lIns="0" tIns="0" rIns="0" bIns="0" anchor="t">
            <a:spAutoFit/>
          </a:bodyPr>
          <a:lstStyle/>
          <a:p>
            <a:pPr algn="l">
              <a:lnSpc>
                <a:spcPct val="125000"/>
              </a:lnSpc>
            </a:pPr>
            <a:r>
              <a:rPr sz="1400" b="0">
                <a:solidFill>
                  <a:srgbClr val="6B6B6B"/>
                </a:solidFill>
                <a:latin typeface="Arial" panose="020B0604020202020204" pitchFamily="34" charset="0"/>
                <a:cs typeface="Arial" panose="020B0604020202020204" pitchFamily="34" charset="0"/>
              </a:rPr>
              <a:t>Every stage emits a trace event. The trace is the audit log </a:t>
            </a:r>
            <a:r>
              <a:rPr lang="en-US" sz="1400" b="0">
                <a:solidFill>
                  <a:srgbClr val="6B6B6B"/>
                </a:solidFill>
                <a:latin typeface="Arial" panose="020B0604020202020204" pitchFamily="34" charset="0"/>
                <a:cs typeface="Arial" panose="020B0604020202020204" pitchFamily="34" charset="0"/>
              </a:rPr>
              <a:t>:</a:t>
            </a:r>
            <a:r>
              <a:rPr sz="1400" b="0">
                <a:solidFill>
                  <a:srgbClr val="6B6B6B"/>
                </a:solidFill>
                <a:latin typeface="Arial" panose="020B0604020202020204" pitchFamily="34" charset="0"/>
                <a:cs typeface="Arial" panose="020B0604020202020204" pitchFamily="34" charset="0"/>
              </a:rPr>
              <a:t> “why does this record say 2000 PSI?” is answered by replaying it, not by trusting it.</a:t>
            </a:r>
            <a:endParaRPr sz="1400" b="0">
              <a:solidFill>
                <a:srgbClr val="6B6B6B"/>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7" name="TextBox 6"/>
          <p:cNvSpPr txBox="1"/>
          <p:nvPr/>
        </p:nvSpPr>
        <p:spPr>
          <a:xfrm>
            <a:off x="566928" y="1212088"/>
            <a:ext cx="11057839" cy="424180"/>
          </a:xfrm>
          <a:prstGeom prst="rect">
            <a:avLst/>
          </a:prstGeom>
          <a:noFill/>
        </p:spPr>
        <p:txBody>
          <a:bodyPr wrap="square" lIns="0" tIns="0" rIns="0" bIns="0" anchor="t">
            <a:spAutoFit/>
          </a:bodyPr>
          <a:lstStyle/>
          <a:p>
            <a:pPr algn="l">
              <a:lnSpc>
                <a:spcPct val="115000"/>
              </a:lnSpc>
            </a:pPr>
            <a:r>
              <a:rPr sz="2400" b="0">
                <a:solidFill>
                  <a:srgbClr val="1A1A1A"/>
                </a:solidFill>
                <a:latin typeface="Arial" panose="020B0604020202020204" pitchFamily="34" charset="0"/>
                <a:cs typeface="Arial" panose="020B0604020202020204" pitchFamily="34" charset="0"/>
              </a:rPr>
              <a:t>Wireframes / Mock diagrams of the proposed solution</a:t>
            </a:r>
            <a:endParaRPr sz="2400" b="0">
              <a:solidFill>
                <a:srgbClr val="1A1A1A"/>
              </a:solidFill>
              <a:latin typeface="Arial" panose="020B0604020202020204" pitchFamily="34" charset="0"/>
              <a:cs typeface="Arial" panose="020B0604020202020204" pitchFamily="34" charset="0"/>
            </a:endParaRPr>
          </a:p>
        </p:txBody>
      </p:sp>
      <p:sp>
        <p:nvSpPr>
          <p:cNvPr id="8" name="TextBox 7"/>
          <p:cNvSpPr txBox="1"/>
          <p:nvPr/>
        </p:nvSpPr>
        <p:spPr>
          <a:xfrm>
            <a:off x="566928" y="1938528"/>
            <a:ext cx="11057839" cy="2470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The three surfaces the workflow lives in, captured from the working build.</a:t>
            </a:r>
            <a:endParaRPr sz="1400" b="0">
              <a:solidFill>
                <a:srgbClr val="6B6B6B"/>
              </a:solidFill>
              <a:latin typeface="Arial" panose="020B0604020202020204" pitchFamily="34" charset="0"/>
              <a:cs typeface="Arial" panose="020B0604020202020204" pitchFamily="34" charset="0"/>
            </a:endParaRPr>
          </a:p>
        </p:txBody>
      </p:sp>
      <p:pic>
        <p:nvPicPr>
          <p:cNvPr id="9" name="Picture 8" descr="03-console-input.png"/>
          <p:cNvPicPr>
            <a:picLocks noChangeAspect="1"/>
          </p:cNvPicPr>
          <p:nvPr/>
        </p:nvPicPr>
        <p:blipFill>
          <a:blip r:embed="rId2"/>
          <a:srcRect t="1011" b="9101"/>
          <a:stretch>
            <a:fillRect/>
          </a:stretch>
        </p:blipFill>
        <p:spPr>
          <a:xfrm>
            <a:off x="566928" y="2304288"/>
            <a:ext cx="4160520" cy="2337370"/>
          </a:xfrm>
          <a:prstGeom prst="rect">
            <a:avLst/>
          </a:prstGeom>
          <a:ln w="9525">
            <a:solidFill>
              <a:srgbClr val="D8DEE6"/>
            </a:solidFill>
          </a:ln>
        </p:spPr>
      </p:pic>
      <p:pic>
        <p:nvPicPr>
          <p:cNvPr id="10" name="Picture 9" descr="06-evidence-drawer.png"/>
          <p:cNvPicPr>
            <a:picLocks noChangeAspect="1"/>
          </p:cNvPicPr>
          <p:nvPr/>
        </p:nvPicPr>
        <p:blipFill>
          <a:blip r:embed="rId3"/>
          <a:srcRect t="404" b="9708"/>
          <a:stretch>
            <a:fillRect/>
          </a:stretch>
        </p:blipFill>
        <p:spPr>
          <a:xfrm>
            <a:off x="4825365" y="2306320"/>
            <a:ext cx="4160520" cy="2337435"/>
          </a:xfrm>
          <a:prstGeom prst="rect">
            <a:avLst/>
          </a:prstGeom>
          <a:ln w="9525">
            <a:solidFill>
              <a:srgbClr val="D8DEE6"/>
            </a:solidFill>
          </a:ln>
        </p:spPr>
      </p:pic>
      <p:pic>
        <p:nvPicPr>
          <p:cNvPr id="11" name="Picture 10" descr="13-mobile.png"/>
          <p:cNvPicPr>
            <a:picLocks noChangeAspect="1"/>
          </p:cNvPicPr>
          <p:nvPr/>
        </p:nvPicPr>
        <p:blipFill>
          <a:blip r:embed="rId4"/>
          <a:stretch>
            <a:fillRect/>
          </a:stretch>
        </p:blipFill>
        <p:spPr>
          <a:xfrm>
            <a:off x="9253728" y="2304288"/>
            <a:ext cx="1078992" cy="2340546"/>
          </a:xfrm>
          <a:prstGeom prst="rect">
            <a:avLst/>
          </a:prstGeom>
          <a:ln w="9525">
            <a:solidFill>
              <a:srgbClr val="D8DEE6"/>
            </a:solidFill>
          </a:ln>
        </p:spPr>
      </p:pic>
      <p:sp>
        <p:nvSpPr>
          <p:cNvPr id="12" name="TextBox 11"/>
          <p:cNvSpPr txBox="1"/>
          <p:nvPr/>
        </p:nvSpPr>
        <p:spPr>
          <a:xfrm>
            <a:off x="566928" y="4736592"/>
            <a:ext cx="4160520"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1  Enrichment console</a:t>
            </a:r>
            <a:endParaRPr sz="1400" b="1">
              <a:solidFill>
                <a:srgbClr val="1A1A1A"/>
              </a:solidFill>
              <a:latin typeface="Arial" panose="020B0604020202020204" pitchFamily="34" charset="0"/>
              <a:cs typeface="Arial" panose="020B0604020202020204" pitchFamily="34" charset="0"/>
            </a:endParaRPr>
          </a:p>
        </p:txBody>
      </p:sp>
      <p:sp>
        <p:nvSpPr>
          <p:cNvPr id="13" name="TextBox 12"/>
          <p:cNvSpPr txBox="1"/>
          <p:nvPr/>
        </p:nvSpPr>
        <p:spPr>
          <a:xfrm>
            <a:off x="566928" y="4937760"/>
            <a:ext cx="4160520" cy="507365"/>
          </a:xfrm>
          <a:prstGeom prst="rect">
            <a:avLst/>
          </a:prstGeom>
          <a:noFill/>
        </p:spPr>
        <p:txBody>
          <a:bodyPr wrap="square" lIns="0" tIns="0" rIns="0" bIns="0" anchor="t">
            <a:spAutoFit/>
          </a:bodyPr>
          <a:lstStyle/>
          <a:p>
            <a:pPr algn="l">
              <a:lnSpc>
                <a:spcPct val="118000"/>
              </a:lnSpc>
            </a:pPr>
            <a:r>
              <a:rPr sz="1400" b="0">
                <a:solidFill>
                  <a:srgbClr val="6B6B6B"/>
                </a:solidFill>
                <a:latin typeface="Arial" panose="020B0604020202020204" pitchFamily="34" charset="0"/>
                <a:cs typeface="Arial" panose="020B0604020202020204" pitchFamily="34" charset="0"/>
              </a:rPr>
              <a:t>Identity and evidence on the left, the eight-stage trace on the right.</a:t>
            </a:r>
            <a:endParaRPr sz="1400" b="0">
              <a:solidFill>
                <a:srgbClr val="6B6B6B"/>
              </a:solidFill>
              <a:latin typeface="Arial" panose="020B0604020202020204" pitchFamily="34" charset="0"/>
              <a:cs typeface="Arial" panose="020B0604020202020204" pitchFamily="34" charset="0"/>
            </a:endParaRPr>
          </a:p>
        </p:txBody>
      </p:sp>
      <p:sp>
        <p:nvSpPr>
          <p:cNvPr id="14" name="TextBox 13"/>
          <p:cNvSpPr txBox="1"/>
          <p:nvPr/>
        </p:nvSpPr>
        <p:spPr>
          <a:xfrm>
            <a:off x="4910328" y="4736592"/>
            <a:ext cx="4160520"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2  Evidence drawer</a:t>
            </a:r>
            <a:endParaRPr sz="1400" b="1">
              <a:solidFill>
                <a:srgbClr val="1A1A1A"/>
              </a:solidFill>
              <a:latin typeface="Arial" panose="020B0604020202020204" pitchFamily="34" charset="0"/>
              <a:cs typeface="Arial" panose="020B0604020202020204" pitchFamily="34" charset="0"/>
            </a:endParaRPr>
          </a:p>
        </p:txBody>
      </p:sp>
      <p:sp>
        <p:nvSpPr>
          <p:cNvPr id="15" name="TextBox 14"/>
          <p:cNvSpPr txBox="1"/>
          <p:nvPr/>
        </p:nvSpPr>
        <p:spPr>
          <a:xfrm>
            <a:off x="4910328" y="4937760"/>
            <a:ext cx="4160520" cy="507365"/>
          </a:xfrm>
          <a:prstGeom prst="rect">
            <a:avLst/>
          </a:prstGeom>
          <a:noFill/>
        </p:spPr>
        <p:txBody>
          <a:bodyPr wrap="square" lIns="0" tIns="0" rIns="0" bIns="0" anchor="t">
            <a:spAutoFit/>
          </a:bodyPr>
          <a:lstStyle/>
          <a:p>
            <a:pPr algn="l">
              <a:lnSpc>
                <a:spcPct val="118000"/>
              </a:lnSpc>
            </a:pPr>
            <a:r>
              <a:rPr sz="1400" b="0">
                <a:solidFill>
                  <a:srgbClr val="6B6B6B"/>
                </a:solidFill>
                <a:latin typeface="Arial" panose="020B0604020202020204" pitchFamily="34" charset="0"/>
                <a:cs typeface="Arial" panose="020B0604020202020204" pitchFamily="34" charset="0"/>
              </a:rPr>
              <a:t>Every value opens to the source, with the cited span highlighted.</a:t>
            </a:r>
            <a:endParaRPr sz="1400" b="0">
              <a:solidFill>
                <a:srgbClr val="6B6B6B"/>
              </a:solidFill>
              <a:latin typeface="Arial" panose="020B0604020202020204" pitchFamily="34" charset="0"/>
              <a:cs typeface="Arial" panose="020B0604020202020204" pitchFamily="34" charset="0"/>
            </a:endParaRPr>
          </a:p>
        </p:txBody>
      </p:sp>
      <p:sp>
        <p:nvSpPr>
          <p:cNvPr id="16" name="TextBox 15"/>
          <p:cNvSpPr txBox="1"/>
          <p:nvPr/>
        </p:nvSpPr>
        <p:spPr>
          <a:xfrm>
            <a:off x="9253728" y="4736592"/>
            <a:ext cx="2194560"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3  Responsive</a:t>
            </a:r>
            <a:endParaRPr sz="1400" b="1">
              <a:solidFill>
                <a:srgbClr val="1A1A1A"/>
              </a:solidFill>
              <a:latin typeface="Arial" panose="020B0604020202020204" pitchFamily="34" charset="0"/>
              <a:cs typeface="Arial" panose="020B0604020202020204" pitchFamily="34" charset="0"/>
            </a:endParaRPr>
          </a:p>
        </p:txBody>
      </p:sp>
      <p:sp>
        <p:nvSpPr>
          <p:cNvPr id="17" name="TextBox 16"/>
          <p:cNvSpPr txBox="1"/>
          <p:nvPr/>
        </p:nvSpPr>
        <p:spPr>
          <a:xfrm>
            <a:off x="9253728" y="4937760"/>
            <a:ext cx="2194560" cy="253365"/>
          </a:xfrm>
          <a:prstGeom prst="rect">
            <a:avLst/>
          </a:prstGeom>
          <a:noFill/>
        </p:spPr>
        <p:txBody>
          <a:bodyPr wrap="square" lIns="0" tIns="0" rIns="0" bIns="0" anchor="t">
            <a:spAutoFit/>
          </a:bodyPr>
          <a:lstStyle/>
          <a:p>
            <a:pPr algn="l">
              <a:lnSpc>
                <a:spcPct val="118000"/>
              </a:lnSpc>
            </a:pPr>
            <a:r>
              <a:rPr sz="1400" b="0">
                <a:solidFill>
                  <a:srgbClr val="6B6B6B"/>
                </a:solidFill>
                <a:latin typeface="Arial" panose="020B0604020202020204" pitchFamily="34" charset="0"/>
                <a:cs typeface="Arial" panose="020B0604020202020204" pitchFamily="34" charset="0"/>
              </a:rPr>
              <a:t>Nav collapses to a chip row.</a:t>
            </a:r>
            <a:endParaRPr sz="1400" b="0">
              <a:solidFill>
                <a:srgbClr val="6B6B6B"/>
              </a:solidFill>
              <a:latin typeface="Arial" panose="020B0604020202020204" pitchFamily="34" charset="0"/>
              <a:cs typeface="Arial" panose="020B0604020202020204" pitchFamily="34" charset="0"/>
            </a:endParaRPr>
          </a:p>
        </p:txBody>
      </p:sp>
      <p:sp>
        <p:nvSpPr>
          <p:cNvPr id="18" name="Oval 17"/>
          <p:cNvSpPr/>
          <p:nvPr/>
        </p:nvSpPr>
        <p:spPr>
          <a:xfrm>
            <a:off x="640080" y="2395728"/>
            <a:ext cx="237744" cy="237744"/>
          </a:xfrm>
          <a:prstGeom prst="ellipse">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00000"/>
              </a:lnSpc>
            </a:pPr>
            <a:r>
              <a:rPr sz="1400" b="1">
                <a:solidFill>
                  <a:srgbClr val="FFFFFF"/>
                </a:solidFill>
                <a:latin typeface="Arial" panose="020B0604020202020204" pitchFamily="34" charset="0"/>
                <a:cs typeface="Arial" panose="020B0604020202020204" pitchFamily="34" charset="0"/>
              </a:rPr>
              <a:t>1</a:t>
            </a:r>
            <a:endParaRPr sz="1400" b="1">
              <a:solidFill>
                <a:srgbClr val="FFFFFF"/>
              </a:solidFill>
              <a:latin typeface="Arial" panose="020B0604020202020204" pitchFamily="34" charset="0"/>
              <a:cs typeface="Arial" panose="020B0604020202020204" pitchFamily="34" charset="0"/>
            </a:endParaRPr>
          </a:p>
        </p:txBody>
      </p:sp>
      <p:sp>
        <p:nvSpPr>
          <p:cNvPr id="19" name="Oval 18"/>
          <p:cNvSpPr/>
          <p:nvPr/>
        </p:nvSpPr>
        <p:spPr>
          <a:xfrm>
            <a:off x="4983480" y="2395728"/>
            <a:ext cx="237744" cy="237744"/>
          </a:xfrm>
          <a:prstGeom prst="ellipse">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00000"/>
              </a:lnSpc>
            </a:pPr>
            <a:r>
              <a:rPr sz="1400" b="1">
                <a:solidFill>
                  <a:srgbClr val="FFFFFF"/>
                </a:solidFill>
                <a:latin typeface="Arial" panose="020B0604020202020204" pitchFamily="34" charset="0"/>
                <a:cs typeface="Arial" panose="020B0604020202020204" pitchFamily="34" charset="0"/>
              </a:rPr>
              <a:t>2</a:t>
            </a:r>
            <a:endParaRPr sz="1400" b="1">
              <a:solidFill>
                <a:srgbClr val="FFFFFF"/>
              </a:solidFill>
              <a:latin typeface="Arial" panose="020B0604020202020204" pitchFamily="34" charset="0"/>
              <a:cs typeface="Arial" panose="020B0604020202020204" pitchFamily="34" charset="0"/>
            </a:endParaRPr>
          </a:p>
        </p:txBody>
      </p:sp>
      <p:sp>
        <p:nvSpPr>
          <p:cNvPr id="20" name="Oval 19"/>
          <p:cNvSpPr/>
          <p:nvPr/>
        </p:nvSpPr>
        <p:spPr>
          <a:xfrm>
            <a:off x="9308592" y="2395728"/>
            <a:ext cx="237744" cy="237744"/>
          </a:xfrm>
          <a:prstGeom prst="ellipse">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00000"/>
              </a:lnSpc>
            </a:pPr>
            <a:r>
              <a:rPr sz="1400" b="1">
                <a:solidFill>
                  <a:srgbClr val="FFFFFF"/>
                </a:solidFill>
                <a:latin typeface="Arial" panose="020B0604020202020204" pitchFamily="34" charset="0"/>
                <a:cs typeface="Arial" panose="020B0604020202020204" pitchFamily="34" charset="0"/>
              </a:rPr>
              <a:t>3</a:t>
            </a:r>
            <a:endParaRPr sz="1400" b="1">
              <a:solidFill>
                <a:srgbClr val="FFFFFF"/>
              </a:solidFill>
              <a:latin typeface="Arial" panose="020B0604020202020204" pitchFamily="34" charset="0"/>
              <a:cs typeface="Arial" panose="020B0604020202020204" pitchFamily="34" charset="0"/>
            </a:endParaRPr>
          </a:p>
        </p:txBody>
      </p:sp>
      <p:sp>
        <p:nvSpPr>
          <p:cNvPr id="21" name="Rounded Rectangle 20"/>
          <p:cNvSpPr/>
          <p:nvPr/>
        </p:nvSpPr>
        <p:spPr>
          <a:xfrm>
            <a:off x="567055" y="5532120"/>
            <a:ext cx="2138680" cy="102489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22" name="TextBox 21"/>
          <p:cNvSpPr txBox="1"/>
          <p:nvPr/>
        </p:nvSpPr>
        <p:spPr>
          <a:xfrm>
            <a:off x="676656" y="5623560"/>
            <a:ext cx="1918959"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Supplier row</a:t>
            </a:r>
            <a:endParaRPr sz="1400" b="1">
              <a:solidFill>
                <a:srgbClr val="1A1A1A"/>
              </a:solidFill>
              <a:latin typeface="Arial" panose="020B0604020202020204" pitchFamily="34" charset="0"/>
              <a:cs typeface="Arial" panose="020B0604020202020204" pitchFamily="34" charset="0"/>
            </a:endParaRPr>
          </a:p>
        </p:txBody>
      </p:sp>
      <p:sp>
        <p:nvSpPr>
          <p:cNvPr id="23" name="TextBox 22"/>
          <p:cNvSpPr txBox="1"/>
          <p:nvPr/>
        </p:nvSpPr>
        <p:spPr>
          <a:xfrm>
            <a:off x="676656" y="5815584"/>
            <a:ext cx="1918959" cy="7423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brand, MPN and the vendor line</a:t>
            </a:r>
            <a:r>
              <a:rPr lang="en-US" sz="1400" b="0">
                <a:solidFill>
                  <a:srgbClr val="6B6B6B"/>
                </a:solidFill>
                <a:latin typeface="Arial" panose="020B0604020202020204" pitchFamily="34" charset="0"/>
                <a:cs typeface="Arial" panose="020B0604020202020204" pitchFamily="34" charset="0"/>
              </a:rPr>
              <a:t>,</a:t>
            </a:r>
            <a:r>
              <a:rPr sz="1400" b="0">
                <a:solidFill>
                  <a:srgbClr val="6B6B6B"/>
                </a:solidFill>
                <a:latin typeface="Arial" panose="020B0604020202020204" pitchFamily="34" charset="0"/>
                <a:cs typeface="Arial" panose="020B0604020202020204" pitchFamily="34" charset="0"/>
              </a:rPr>
              <a:t> starts empty</a:t>
            </a:r>
            <a:endParaRPr sz="1400" b="0">
              <a:solidFill>
                <a:srgbClr val="6B6B6B"/>
              </a:solidFill>
              <a:latin typeface="Arial" panose="020B0604020202020204" pitchFamily="34" charset="0"/>
              <a:cs typeface="Arial" panose="020B0604020202020204" pitchFamily="34" charset="0"/>
            </a:endParaRPr>
          </a:p>
        </p:txBody>
      </p:sp>
      <p:sp>
        <p:nvSpPr>
          <p:cNvPr id="24" name="Rounded Rectangle 23"/>
          <p:cNvSpPr/>
          <p:nvPr/>
        </p:nvSpPr>
        <p:spPr>
          <a:xfrm>
            <a:off x="2796540" y="5532120"/>
            <a:ext cx="2138680" cy="102489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25" name="TextBox 24"/>
          <p:cNvSpPr txBox="1"/>
          <p:nvPr/>
        </p:nvSpPr>
        <p:spPr>
          <a:xfrm>
            <a:off x="2906511" y="5623560"/>
            <a:ext cx="1918959"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Evidence</a:t>
            </a:r>
            <a:endParaRPr sz="1400" b="1">
              <a:solidFill>
                <a:srgbClr val="1A1A1A"/>
              </a:solidFill>
              <a:latin typeface="Arial" panose="020B0604020202020204" pitchFamily="34" charset="0"/>
              <a:cs typeface="Arial" panose="020B0604020202020204" pitchFamily="34" charset="0"/>
            </a:endParaRPr>
          </a:p>
        </p:txBody>
      </p:sp>
      <p:sp>
        <p:nvSpPr>
          <p:cNvPr id="26" name="TextBox 25"/>
          <p:cNvSpPr txBox="1"/>
          <p:nvPr/>
        </p:nvSpPr>
        <p:spPr>
          <a:xfrm>
            <a:off x="2906511" y="5815584"/>
            <a:ext cx="1918959" cy="7423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PDF upload, URL fetch or pasted spec, each with its authority</a:t>
            </a:r>
            <a:endParaRPr sz="1400" b="0">
              <a:solidFill>
                <a:srgbClr val="6B6B6B"/>
              </a:solidFill>
              <a:latin typeface="Arial" panose="020B0604020202020204" pitchFamily="34" charset="0"/>
              <a:cs typeface="Arial" panose="020B0604020202020204" pitchFamily="34" charset="0"/>
            </a:endParaRPr>
          </a:p>
        </p:txBody>
      </p:sp>
      <p:sp>
        <p:nvSpPr>
          <p:cNvPr id="27" name="Rounded Rectangle 26"/>
          <p:cNvSpPr/>
          <p:nvPr/>
        </p:nvSpPr>
        <p:spPr>
          <a:xfrm>
            <a:off x="5026660" y="5532120"/>
            <a:ext cx="2138680" cy="102489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28" name="TextBox 27"/>
          <p:cNvSpPr txBox="1"/>
          <p:nvPr/>
        </p:nvSpPr>
        <p:spPr>
          <a:xfrm>
            <a:off x="5136367" y="5623560"/>
            <a:ext cx="1918959"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Pipeline trace</a:t>
            </a:r>
            <a:endParaRPr sz="1400" b="1">
              <a:solidFill>
                <a:srgbClr val="1A1A1A"/>
              </a:solidFill>
              <a:latin typeface="Arial" panose="020B0604020202020204" pitchFamily="34" charset="0"/>
              <a:cs typeface="Arial" panose="020B0604020202020204" pitchFamily="34" charset="0"/>
            </a:endParaRPr>
          </a:p>
        </p:txBody>
      </p:sp>
      <p:sp>
        <p:nvSpPr>
          <p:cNvPr id="29" name="TextBox 28"/>
          <p:cNvSpPr txBox="1"/>
          <p:nvPr/>
        </p:nvSpPr>
        <p:spPr>
          <a:xfrm>
            <a:off x="5136367" y="5815584"/>
            <a:ext cx="1918959" cy="49466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eight stages reporting live, with timings</a:t>
            </a:r>
            <a:endParaRPr sz="1400" b="0">
              <a:solidFill>
                <a:srgbClr val="6B6B6B"/>
              </a:solidFill>
              <a:latin typeface="Arial" panose="020B0604020202020204" pitchFamily="34" charset="0"/>
              <a:cs typeface="Arial" panose="020B0604020202020204" pitchFamily="34" charset="0"/>
            </a:endParaRPr>
          </a:p>
        </p:txBody>
      </p:sp>
      <p:sp>
        <p:nvSpPr>
          <p:cNvPr id="30" name="Rounded Rectangle 29"/>
          <p:cNvSpPr/>
          <p:nvPr/>
        </p:nvSpPr>
        <p:spPr>
          <a:xfrm>
            <a:off x="7256780" y="5532120"/>
            <a:ext cx="2138680" cy="1031875"/>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31" name="TextBox 30"/>
          <p:cNvSpPr txBox="1"/>
          <p:nvPr/>
        </p:nvSpPr>
        <p:spPr>
          <a:xfrm>
            <a:off x="7366223" y="5623560"/>
            <a:ext cx="1918959"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Attribute record</a:t>
            </a:r>
            <a:endParaRPr sz="1400" b="1">
              <a:solidFill>
                <a:srgbClr val="1A1A1A"/>
              </a:solidFill>
              <a:latin typeface="Arial" panose="020B0604020202020204" pitchFamily="34" charset="0"/>
              <a:cs typeface="Arial" panose="020B0604020202020204" pitchFamily="34" charset="0"/>
            </a:endParaRPr>
          </a:p>
        </p:txBody>
      </p:sp>
      <p:sp>
        <p:nvSpPr>
          <p:cNvPr id="32" name="TextBox 31"/>
          <p:cNvSpPr txBox="1"/>
          <p:nvPr/>
        </p:nvSpPr>
        <p:spPr>
          <a:xfrm>
            <a:off x="7366223" y="5815584"/>
            <a:ext cx="1918959" cy="7423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value, provenance chips, confidence, gate decision</a:t>
            </a:r>
            <a:endParaRPr sz="1400" b="0">
              <a:solidFill>
                <a:srgbClr val="6B6B6B"/>
              </a:solidFill>
              <a:latin typeface="Arial" panose="020B0604020202020204" pitchFamily="34" charset="0"/>
              <a:cs typeface="Arial" panose="020B0604020202020204" pitchFamily="34" charset="0"/>
            </a:endParaRPr>
          </a:p>
        </p:txBody>
      </p:sp>
      <p:sp>
        <p:nvSpPr>
          <p:cNvPr id="33" name="Rounded Rectangle 32"/>
          <p:cNvSpPr/>
          <p:nvPr/>
        </p:nvSpPr>
        <p:spPr>
          <a:xfrm>
            <a:off x="9486265" y="5532120"/>
            <a:ext cx="2138680" cy="1031875"/>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34" name="TextBox 33"/>
          <p:cNvSpPr txBox="1"/>
          <p:nvPr/>
        </p:nvSpPr>
        <p:spPr>
          <a:xfrm>
            <a:off x="9596079" y="5623560"/>
            <a:ext cx="1918959"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Conflict panel</a:t>
            </a:r>
            <a:endParaRPr sz="1400" b="1">
              <a:solidFill>
                <a:srgbClr val="1A1A1A"/>
              </a:solidFill>
              <a:latin typeface="Arial" panose="020B0604020202020204" pitchFamily="34" charset="0"/>
              <a:cs typeface="Arial" panose="020B0604020202020204" pitchFamily="34" charset="0"/>
            </a:endParaRPr>
          </a:p>
        </p:txBody>
      </p:sp>
      <p:sp>
        <p:nvSpPr>
          <p:cNvPr id="35" name="TextBox 34"/>
          <p:cNvSpPr txBox="1"/>
          <p:nvPr/>
        </p:nvSpPr>
        <p:spPr>
          <a:xfrm>
            <a:off x="9596079" y="5815584"/>
            <a:ext cx="1918959" cy="7423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both contenders kept, with how the tie was broken</a:t>
            </a:r>
            <a:endParaRPr sz="1400" b="0">
              <a:solidFill>
                <a:srgbClr val="6B6B6B"/>
              </a:solidFill>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7" name="TextBox 6"/>
          <p:cNvSpPr txBox="1"/>
          <p:nvPr/>
        </p:nvSpPr>
        <p:spPr>
          <a:xfrm>
            <a:off x="566928" y="1229233"/>
            <a:ext cx="11057839" cy="424180"/>
          </a:xfrm>
          <a:prstGeom prst="rect">
            <a:avLst/>
          </a:prstGeom>
          <a:noFill/>
        </p:spPr>
        <p:txBody>
          <a:bodyPr wrap="square" lIns="0" tIns="0" rIns="0" bIns="0" anchor="t">
            <a:spAutoFit/>
          </a:bodyPr>
          <a:lstStyle/>
          <a:p>
            <a:pPr algn="l">
              <a:lnSpc>
                <a:spcPct val="115000"/>
              </a:lnSpc>
            </a:pPr>
            <a:r>
              <a:rPr sz="2400" b="0">
                <a:solidFill>
                  <a:srgbClr val="1A1A1A"/>
                </a:solidFill>
                <a:latin typeface="Arial" panose="020B0604020202020204" pitchFamily="34" charset="0"/>
                <a:cs typeface="Arial" panose="020B0604020202020204" pitchFamily="34" charset="0"/>
              </a:rPr>
              <a:t>Architecture diagram of the proposed solution</a:t>
            </a:r>
            <a:endParaRPr sz="2400" b="0">
              <a:solidFill>
                <a:srgbClr val="1A1A1A"/>
              </a:solidFill>
              <a:latin typeface="Arial" panose="020B0604020202020204" pitchFamily="34" charset="0"/>
              <a:cs typeface="Arial" panose="020B0604020202020204" pitchFamily="34" charset="0"/>
            </a:endParaRPr>
          </a:p>
        </p:txBody>
      </p:sp>
      <p:sp>
        <p:nvSpPr>
          <p:cNvPr id="8" name="Rectangle 7"/>
          <p:cNvSpPr/>
          <p:nvPr/>
        </p:nvSpPr>
        <p:spPr>
          <a:xfrm>
            <a:off x="566928" y="2103120"/>
            <a:ext cx="2084831" cy="3246120"/>
          </a:xfrm>
          <a:prstGeom prst="rect">
            <a:avLst/>
          </a:prstGeom>
          <a:solidFill>
            <a:srgbClr val="EDF3FA"/>
          </a:solidFill>
          <a:ln w="12700">
            <a:solidFill>
              <a:srgbClr val="D8DE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Arial" panose="020B0604020202020204" pitchFamily="34" charset="0"/>
              <a:cs typeface="Arial" panose="020B0604020202020204" pitchFamily="34" charset="0"/>
            </a:endParaRPr>
          </a:p>
        </p:txBody>
      </p:sp>
      <p:sp>
        <p:nvSpPr>
          <p:cNvPr id="9" name="TextBox 8"/>
          <p:cNvSpPr txBox="1"/>
          <p:nvPr/>
        </p:nvSpPr>
        <p:spPr>
          <a:xfrm>
            <a:off x="658368" y="2157984"/>
            <a:ext cx="2084831" cy="212090"/>
          </a:xfrm>
          <a:prstGeom prst="rect">
            <a:avLst/>
          </a:prstGeom>
          <a:noFill/>
        </p:spPr>
        <p:txBody>
          <a:bodyPr wrap="square" lIns="0" tIns="0" rIns="0" bIns="0" anchor="t">
            <a:spAutoFit/>
          </a:bodyPr>
          <a:lstStyle/>
          <a:p>
            <a:pPr algn="l">
              <a:lnSpc>
                <a:spcPct val="115000"/>
              </a:lnSpc>
            </a:pPr>
            <a:r>
              <a:rPr sz="1200" b="1">
                <a:solidFill>
                  <a:srgbClr val="1E88E5"/>
                </a:solidFill>
                <a:latin typeface="Arial" panose="020B0604020202020204" pitchFamily="34" charset="0"/>
                <a:cs typeface="Arial" panose="020B0604020202020204" pitchFamily="34" charset="0"/>
              </a:rPr>
              <a:t>SOURCES</a:t>
            </a:r>
            <a:endParaRPr sz="1200" b="1">
              <a:solidFill>
                <a:srgbClr val="1E88E5"/>
              </a:solidFill>
              <a:latin typeface="Arial" panose="020B0604020202020204" pitchFamily="34" charset="0"/>
              <a:cs typeface="Arial" panose="020B0604020202020204" pitchFamily="34" charset="0"/>
            </a:endParaRPr>
          </a:p>
        </p:txBody>
      </p:sp>
      <p:sp>
        <p:nvSpPr>
          <p:cNvPr id="10" name="Rounded Rectangle 9"/>
          <p:cNvSpPr/>
          <p:nvPr/>
        </p:nvSpPr>
        <p:spPr>
          <a:xfrm>
            <a:off x="676656" y="2468880"/>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PDF datasheet
</a:t>
            </a:r>
            <a:r>
              <a:rPr sz="1200">
                <a:solidFill>
                  <a:srgbClr val="6B6B6B"/>
                </a:solidFill>
                <a:latin typeface="Arial" panose="020B0604020202020204" pitchFamily="34" charset="0"/>
                <a:cs typeface="Arial" panose="020B0604020202020204" pitchFamily="34" charset="0"/>
              </a:rPr>
              <a:t>unpdf text layer</a:t>
            </a:r>
            <a:endParaRPr sz="1200">
              <a:solidFill>
                <a:srgbClr val="6B6B6B"/>
              </a:solidFill>
              <a:latin typeface="Arial" panose="020B0604020202020204" pitchFamily="34" charset="0"/>
              <a:cs typeface="Arial" panose="020B0604020202020204" pitchFamily="34" charset="0"/>
            </a:endParaRPr>
          </a:p>
        </p:txBody>
      </p:sp>
      <p:sp>
        <p:nvSpPr>
          <p:cNvPr id="11" name="Rounded Rectangle 10"/>
          <p:cNvSpPr/>
          <p:nvPr/>
        </p:nvSpPr>
        <p:spPr>
          <a:xfrm>
            <a:off x="676656" y="3163824"/>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Product URL
</a:t>
            </a:r>
            <a:r>
              <a:rPr sz="1200">
                <a:solidFill>
                  <a:srgbClr val="6B6B6B"/>
                </a:solidFill>
                <a:latin typeface="Arial" panose="020B0604020202020204" pitchFamily="34" charset="0"/>
                <a:cs typeface="Arial" panose="020B0604020202020204" pitchFamily="34" charset="0"/>
              </a:rPr>
              <a:t>server-side fetch</a:t>
            </a:r>
            <a:endParaRPr sz="1200">
              <a:solidFill>
                <a:srgbClr val="6B6B6B"/>
              </a:solidFill>
              <a:latin typeface="Arial" panose="020B0604020202020204" pitchFamily="34" charset="0"/>
              <a:cs typeface="Arial" panose="020B0604020202020204" pitchFamily="34" charset="0"/>
            </a:endParaRPr>
          </a:p>
        </p:txBody>
      </p:sp>
      <p:sp>
        <p:nvSpPr>
          <p:cNvPr id="12" name="Rounded Rectangle 11"/>
          <p:cNvSpPr/>
          <p:nvPr/>
        </p:nvSpPr>
        <p:spPr>
          <a:xfrm>
            <a:off x="676656" y="3858768"/>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Pasted spec
</a:t>
            </a:r>
            <a:r>
              <a:rPr sz="1200">
                <a:solidFill>
                  <a:srgbClr val="6B6B6B"/>
                </a:solidFill>
                <a:latin typeface="Arial" panose="020B0604020202020204" pitchFamily="34" charset="0"/>
                <a:cs typeface="Arial" panose="020B0604020202020204" pitchFamily="34" charset="0"/>
              </a:rPr>
              <a:t>raw text</a:t>
            </a:r>
            <a:endParaRPr sz="1200">
              <a:solidFill>
                <a:srgbClr val="6B6B6B"/>
              </a:solidFill>
              <a:latin typeface="Arial" panose="020B0604020202020204" pitchFamily="34" charset="0"/>
              <a:cs typeface="Arial" panose="020B0604020202020204" pitchFamily="34" charset="0"/>
            </a:endParaRPr>
          </a:p>
        </p:txBody>
      </p:sp>
      <p:sp>
        <p:nvSpPr>
          <p:cNvPr id="13" name="Rounded Rectangle 12"/>
          <p:cNvSpPr/>
          <p:nvPr/>
        </p:nvSpPr>
        <p:spPr>
          <a:xfrm>
            <a:off x="676656" y="4553712"/>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Cached corpus
</a:t>
            </a:r>
            <a:r>
              <a:rPr sz="1200">
                <a:solidFill>
                  <a:srgbClr val="6B6B6B"/>
                </a:solidFill>
                <a:latin typeface="Arial" panose="020B0604020202020204" pitchFamily="34" charset="0"/>
                <a:cs typeface="Arial" panose="020B0604020202020204" pitchFamily="34" charset="0"/>
              </a:rPr>
              <a:t>offline demo set</a:t>
            </a:r>
            <a:endParaRPr sz="1200">
              <a:solidFill>
                <a:srgbClr val="6B6B6B"/>
              </a:solidFill>
              <a:latin typeface="Arial" panose="020B0604020202020204" pitchFamily="34" charset="0"/>
              <a:cs typeface="Arial" panose="020B0604020202020204" pitchFamily="34" charset="0"/>
            </a:endParaRPr>
          </a:p>
        </p:txBody>
      </p:sp>
      <p:sp>
        <p:nvSpPr>
          <p:cNvPr id="14" name="Rectangle 13"/>
          <p:cNvSpPr/>
          <p:nvPr/>
        </p:nvSpPr>
        <p:spPr>
          <a:xfrm>
            <a:off x="2962655" y="2103120"/>
            <a:ext cx="2084831" cy="3246120"/>
          </a:xfrm>
          <a:prstGeom prst="rect">
            <a:avLst/>
          </a:prstGeom>
          <a:solidFill>
            <a:srgbClr val="EDF3FA"/>
          </a:solidFill>
          <a:ln w="12700">
            <a:solidFill>
              <a:srgbClr val="D8DE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Arial" panose="020B0604020202020204" pitchFamily="34" charset="0"/>
              <a:cs typeface="Arial" panose="020B0604020202020204" pitchFamily="34" charset="0"/>
            </a:endParaRPr>
          </a:p>
        </p:txBody>
      </p:sp>
      <p:sp>
        <p:nvSpPr>
          <p:cNvPr id="15" name="TextBox 14"/>
          <p:cNvSpPr txBox="1"/>
          <p:nvPr/>
        </p:nvSpPr>
        <p:spPr>
          <a:xfrm>
            <a:off x="3054095" y="2157984"/>
            <a:ext cx="2084831" cy="212090"/>
          </a:xfrm>
          <a:prstGeom prst="rect">
            <a:avLst/>
          </a:prstGeom>
          <a:noFill/>
        </p:spPr>
        <p:txBody>
          <a:bodyPr wrap="square" lIns="0" tIns="0" rIns="0" bIns="0" anchor="t">
            <a:spAutoFit/>
          </a:bodyPr>
          <a:lstStyle/>
          <a:p>
            <a:pPr algn="l">
              <a:lnSpc>
                <a:spcPct val="115000"/>
              </a:lnSpc>
            </a:pPr>
            <a:r>
              <a:rPr sz="1200" b="1">
                <a:solidFill>
                  <a:srgbClr val="1E88E5"/>
                </a:solidFill>
                <a:latin typeface="Arial" panose="020B0604020202020204" pitchFamily="34" charset="0"/>
                <a:cs typeface="Arial" panose="020B0604020202020204" pitchFamily="34" charset="0"/>
              </a:rPr>
              <a:t>INGEST + RETRIEVE</a:t>
            </a:r>
            <a:endParaRPr sz="1200" b="1">
              <a:solidFill>
                <a:srgbClr val="1E88E5"/>
              </a:solidFill>
              <a:latin typeface="Arial" panose="020B0604020202020204" pitchFamily="34" charset="0"/>
              <a:cs typeface="Arial" panose="020B0604020202020204" pitchFamily="34" charset="0"/>
            </a:endParaRPr>
          </a:p>
        </p:txBody>
      </p:sp>
      <p:sp>
        <p:nvSpPr>
          <p:cNvPr id="16" name="Rounded Rectangle 15"/>
          <p:cNvSpPr/>
          <p:nvPr/>
        </p:nvSpPr>
        <p:spPr>
          <a:xfrm>
            <a:off x="3072383" y="2468880"/>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/api/ingest
</a:t>
            </a:r>
            <a:r>
              <a:rPr sz="1200">
                <a:solidFill>
                  <a:srgbClr val="6B6B6B"/>
                </a:solidFill>
                <a:latin typeface="Arial" panose="020B0604020202020204" pitchFamily="34" charset="0"/>
                <a:cs typeface="Arial" panose="020B0604020202020204" pitchFamily="34" charset="0"/>
              </a:rPr>
              <a:t>PDF → text, HTML → text</a:t>
            </a:r>
            <a:endParaRPr sz="1200">
              <a:solidFill>
                <a:srgbClr val="6B6B6B"/>
              </a:solidFill>
              <a:latin typeface="Arial" panose="020B0604020202020204" pitchFamily="34" charset="0"/>
              <a:cs typeface="Arial" panose="020B0604020202020204" pitchFamily="34" charset="0"/>
            </a:endParaRPr>
          </a:p>
        </p:txBody>
      </p:sp>
      <p:sp>
        <p:nvSpPr>
          <p:cNvPr id="17" name="Rounded Rectangle 16"/>
          <p:cNvSpPr/>
          <p:nvPr/>
        </p:nvSpPr>
        <p:spPr>
          <a:xfrm>
            <a:off x="3072383" y="3163824"/>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Authority ranking
</a:t>
            </a:r>
            <a:r>
              <a:rPr sz="1200">
                <a:solidFill>
                  <a:srgbClr val="6B6B6B"/>
                </a:solidFill>
                <a:latin typeface="Arial" panose="020B0604020202020204" pitchFamily="34" charset="0"/>
                <a:cs typeface="Arial" panose="020B0604020202020204" pitchFamily="34" charset="0"/>
              </a:rPr>
              <a:t>datasheet → marketplace</a:t>
            </a:r>
            <a:endParaRPr sz="1200">
              <a:solidFill>
                <a:srgbClr val="6B6B6B"/>
              </a:solidFill>
              <a:latin typeface="Arial" panose="020B0604020202020204" pitchFamily="34" charset="0"/>
              <a:cs typeface="Arial" panose="020B0604020202020204" pitchFamily="34" charset="0"/>
            </a:endParaRPr>
          </a:p>
        </p:txBody>
      </p:sp>
      <p:sp>
        <p:nvSpPr>
          <p:cNvPr id="18" name="Rounded Rectangle 17"/>
          <p:cNvSpPr/>
          <p:nvPr/>
        </p:nvSpPr>
        <p:spPr>
          <a:xfrm>
            <a:off x="3072383" y="3858768"/>
            <a:ext cx="1865375" cy="566928"/>
          </a:xfrm>
          <a:prstGeom prst="roundRect">
            <a:avLst/>
          </a:prstGeom>
          <a:solidFill>
            <a:srgbClr val="E8F1FC"/>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Taxonomy
</a:t>
            </a:r>
            <a:r>
              <a:rPr sz="1200">
                <a:solidFill>
                  <a:srgbClr val="6B6B6B"/>
                </a:solidFill>
                <a:latin typeface="Arial" panose="020B0604020202020204" pitchFamily="34" charset="0"/>
                <a:cs typeface="Arial" panose="020B0604020202020204" pitchFamily="34" charset="0"/>
              </a:rPr>
              <a:t>class → attribute schema</a:t>
            </a:r>
            <a:endParaRPr sz="1200">
              <a:solidFill>
                <a:srgbClr val="6B6B6B"/>
              </a:solidFill>
              <a:latin typeface="Arial" panose="020B0604020202020204" pitchFamily="34" charset="0"/>
              <a:cs typeface="Arial" panose="020B0604020202020204" pitchFamily="34" charset="0"/>
            </a:endParaRPr>
          </a:p>
        </p:txBody>
      </p:sp>
      <p:sp>
        <p:nvSpPr>
          <p:cNvPr id="19" name="Rounded Rectangle 18"/>
          <p:cNvSpPr/>
          <p:nvPr/>
        </p:nvSpPr>
        <p:spPr>
          <a:xfrm>
            <a:off x="3072383" y="4553712"/>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Evidence pool
</a:t>
            </a:r>
            <a:r>
              <a:rPr sz="1200">
                <a:solidFill>
                  <a:srgbClr val="6B6B6B"/>
                </a:solidFill>
                <a:latin typeface="Arial" panose="020B0604020202020204" pitchFamily="34" charset="0"/>
                <a:cs typeface="Arial" panose="020B0604020202020204" pitchFamily="34" charset="0"/>
              </a:rPr>
              <a:t>excerpt + offsets</a:t>
            </a:r>
            <a:endParaRPr sz="1200">
              <a:solidFill>
                <a:srgbClr val="6B6B6B"/>
              </a:solidFill>
              <a:latin typeface="Arial" panose="020B0604020202020204" pitchFamily="34" charset="0"/>
              <a:cs typeface="Arial" panose="020B0604020202020204" pitchFamily="34" charset="0"/>
            </a:endParaRPr>
          </a:p>
        </p:txBody>
      </p:sp>
      <p:sp>
        <p:nvSpPr>
          <p:cNvPr id="20" name="Rectangle 19"/>
          <p:cNvSpPr/>
          <p:nvPr/>
        </p:nvSpPr>
        <p:spPr>
          <a:xfrm>
            <a:off x="5358382" y="2103120"/>
            <a:ext cx="2084831" cy="3246120"/>
          </a:xfrm>
          <a:prstGeom prst="rect">
            <a:avLst/>
          </a:prstGeom>
          <a:solidFill>
            <a:srgbClr val="EDF3FA"/>
          </a:solidFill>
          <a:ln w="12700">
            <a:solidFill>
              <a:srgbClr val="D8DE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Arial" panose="020B0604020202020204" pitchFamily="34" charset="0"/>
              <a:cs typeface="Arial" panose="020B0604020202020204" pitchFamily="34" charset="0"/>
            </a:endParaRPr>
          </a:p>
        </p:txBody>
      </p:sp>
      <p:sp>
        <p:nvSpPr>
          <p:cNvPr id="21" name="TextBox 20"/>
          <p:cNvSpPr txBox="1"/>
          <p:nvPr/>
        </p:nvSpPr>
        <p:spPr>
          <a:xfrm>
            <a:off x="5449822" y="2157984"/>
            <a:ext cx="2084831" cy="212090"/>
          </a:xfrm>
          <a:prstGeom prst="rect">
            <a:avLst/>
          </a:prstGeom>
          <a:noFill/>
        </p:spPr>
        <p:txBody>
          <a:bodyPr wrap="square" lIns="0" tIns="0" rIns="0" bIns="0" anchor="t">
            <a:spAutoFit/>
          </a:bodyPr>
          <a:lstStyle/>
          <a:p>
            <a:pPr algn="l">
              <a:lnSpc>
                <a:spcPct val="115000"/>
              </a:lnSpc>
            </a:pPr>
            <a:r>
              <a:rPr sz="1200" b="1">
                <a:solidFill>
                  <a:srgbClr val="1E88E5"/>
                </a:solidFill>
                <a:latin typeface="Arial" panose="020B0604020202020204" pitchFamily="34" charset="0"/>
                <a:cs typeface="Arial" panose="020B0604020202020204" pitchFamily="34" charset="0"/>
              </a:rPr>
              <a:t>PIPELINE  (8 stages)</a:t>
            </a:r>
            <a:endParaRPr sz="1200" b="1">
              <a:solidFill>
                <a:srgbClr val="1E88E5"/>
              </a:solidFill>
              <a:latin typeface="Arial" panose="020B0604020202020204" pitchFamily="34" charset="0"/>
              <a:cs typeface="Arial" panose="020B0604020202020204" pitchFamily="34" charset="0"/>
            </a:endParaRPr>
          </a:p>
        </p:txBody>
      </p:sp>
      <p:sp>
        <p:nvSpPr>
          <p:cNvPr id="22" name="Rounded Rectangle 21"/>
          <p:cNvSpPr/>
          <p:nvPr/>
        </p:nvSpPr>
        <p:spPr>
          <a:xfrm>
            <a:off x="5468110" y="2468880"/>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Extract
</a:t>
            </a:r>
            <a:r>
              <a:rPr sz="1200">
                <a:solidFill>
                  <a:srgbClr val="6B6B6B"/>
                </a:solidFill>
                <a:latin typeface="Arial" panose="020B0604020202020204" pitchFamily="34" charset="0"/>
                <a:cs typeface="Arial" panose="020B0604020202020204" pitchFamily="34" charset="0"/>
              </a:rPr>
              <a:t>schema-constrained, cited</a:t>
            </a:r>
            <a:endParaRPr sz="1200">
              <a:solidFill>
                <a:srgbClr val="6B6B6B"/>
              </a:solidFill>
              <a:latin typeface="Arial" panose="020B0604020202020204" pitchFamily="34" charset="0"/>
              <a:cs typeface="Arial" panose="020B0604020202020204" pitchFamily="34" charset="0"/>
            </a:endParaRPr>
          </a:p>
        </p:txBody>
      </p:sp>
      <p:sp>
        <p:nvSpPr>
          <p:cNvPr id="23" name="Rounded Rectangle 22"/>
          <p:cNvSpPr/>
          <p:nvPr/>
        </p:nvSpPr>
        <p:spPr>
          <a:xfrm>
            <a:off x="5468110" y="3163824"/>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Normalize
</a:t>
            </a:r>
            <a:r>
              <a:rPr sz="1200">
                <a:solidFill>
                  <a:srgbClr val="6B6B6B"/>
                </a:solidFill>
                <a:latin typeface="Arial" panose="020B0604020202020204" pitchFamily="34" charset="0"/>
                <a:cs typeface="Arial" panose="020B0604020202020204" pitchFamily="34" charset="0"/>
              </a:rPr>
              <a:t>units · enums · ranges</a:t>
            </a:r>
            <a:endParaRPr sz="1200">
              <a:solidFill>
                <a:srgbClr val="6B6B6B"/>
              </a:solidFill>
              <a:latin typeface="Arial" panose="020B0604020202020204" pitchFamily="34" charset="0"/>
              <a:cs typeface="Arial" panose="020B0604020202020204" pitchFamily="34" charset="0"/>
            </a:endParaRPr>
          </a:p>
        </p:txBody>
      </p:sp>
      <p:sp>
        <p:nvSpPr>
          <p:cNvPr id="24" name="Rounded Rectangle 23"/>
          <p:cNvSpPr/>
          <p:nvPr/>
        </p:nvSpPr>
        <p:spPr>
          <a:xfrm>
            <a:off x="5468110" y="3858768"/>
            <a:ext cx="1865375" cy="566928"/>
          </a:xfrm>
          <a:prstGeom prst="roundRect">
            <a:avLst/>
          </a:prstGeom>
          <a:solidFill>
            <a:srgbClr val="FDF0E6"/>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Adversarial critic
</a:t>
            </a:r>
            <a:r>
              <a:rPr sz="1200">
                <a:solidFill>
                  <a:srgbClr val="6B6B6B"/>
                </a:solidFill>
                <a:latin typeface="Arial" panose="020B0604020202020204" pitchFamily="34" charset="0"/>
                <a:cs typeface="Arial" panose="020B0604020202020204" pitchFamily="34" charset="0"/>
              </a:rPr>
              <a:t>SUPPORTED / CONTRADICTED</a:t>
            </a:r>
            <a:endParaRPr sz="1200">
              <a:solidFill>
                <a:srgbClr val="6B6B6B"/>
              </a:solidFill>
              <a:latin typeface="Arial" panose="020B0604020202020204" pitchFamily="34" charset="0"/>
              <a:cs typeface="Arial" panose="020B0604020202020204" pitchFamily="34" charset="0"/>
            </a:endParaRPr>
          </a:p>
        </p:txBody>
      </p:sp>
      <p:sp>
        <p:nvSpPr>
          <p:cNvPr id="25" name="Rounded Rectangle 24"/>
          <p:cNvSpPr/>
          <p:nvPr/>
        </p:nvSpPr>
        <p:spPr>
          <a:xfrm>
            <a:off x="5468110" y="4553712"/>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Resolve + Gate
</a:t>
            </a:r>
            <a:r>
              <a:rPr sz="1200">
                <a:solidFill>
                  <a:srgbClr val="6B6B6B"/>
                </a:solidFill>
                <a:latin typeface="Arial" panose="020B0604020202020204" pitchFamily="34" charset="0"/>
                <a:cs typeface="Arial" panose="020B0604020202020204" pitchFamily="34" charset="0"/>
              </a:rPr>
              <a:t>confidence → decision</a:t>
            </a:r>
            <a:endParaRPr sz="1200">
              <a:solidFill>
                <a:srgbClr val="6B6B6B"/>
              </a:solidFill>
              <a:latin typeface="Arial" panose="020B0604020202020204" pitchFamily="34" charset="0"/>
              <a:cs typeface="Arial" panose="020B0604020202020204" pitchFamily="34" charset="0"/>
            </a:endParaRPr>
          </a:p>
        </p:txBody>
      </p:sp>
      <p:sp>
        <p:nvSpPr>
          <p:cNvPr id="26" name="Rectangle 25"/>
          <p:cNvSpPr/>
          <p:nvPr/>
        </p:nvSpPr>
        <p:spPr>
          <a:xfrm>
            <a:off x="7754109" y="2103120"/>
            <a:ext cx="2084831" cy="3246120"/>
          </a:xfrm>
          <a:prstGeom prst="rect">
            <a:avLst/>
          </a:prstGeom>
          <a:solidFill>
            <a:srgbClr val="EDF3FA"/>
          </a:solidFill>
          <a:ln w="12700">
            <a:solidFill>
              <a:srgbClr val="D8DE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Arial" panose="020B0604020202020204" pitchFamily="34" charset="0"/>
              <a:cs typeface="Arial" panose="020B0604020202020204" pitchFamily="34" charset="0"/>
            </a:endParaRPr>
          </a:p>
        </p:txBody>
      </p:sp>
      <p:sp>
        <p:nvSpPr>
          <p:cNvPr id="27" name="TextBox 26"/>
          <p:cNvSpPr txBox="1"/>
          <p:nvPr/>
        </p:nvSpPr>
        <p:spPr>
          <a:xfrm>
            <a:off x="7845549" y="2157984"/>
            <a:ext cx="2084831" cy="212090"/>
          </a:xfrm>
          <a:prstGeom prst="rect">
            <a:avLst/>
          </a:prstGeom>
          <a:noFill/>
        </p:spPr>
        <p:txBody>
          <a:bodyPr wrap="square" lIns="0" tIns="0" rIns="0" bIns="0" anchor="t">
            <a:spAutoFit/>
          </a:bodyPr>
          <a:lstStyle/>
          <a:p>
            <a:pPr algn="l">
              <a:lnSpc>
                <a:spcPct val="115000"/>
              </a:lnSpc>
            </a:pPr>
            <a:r>
              <a:rPr sz="1200" b="1">
                <a:solidFill>
                  <a:srgbClr val="1E88E5"/>
                </a:solidFill>
                <a:latin typeface="Arial" panose="020B0604020202020204" pitchFamily="34" charset="0"/>
                <a:cs typeface="Arial" panose="020B0604020202020204" pitchFamily="34" charset="0"/>
              </a:rPr>
              <a:t>MODEL LAYER</a:t>
            </a:r>
            <a:endParaRPr sz="1200" b="1">
              <a:solidFill>
                <a:srgbClr val="1E88E5"/>
              </a:solidFill>
              <a:latin typeface="Arial" panose="020B0604020202020204" pitchFamily="34" charset="0"/>
              <a:cs typeface="Arial" panose="020B0604020202020204" pitchFamily="34" charset="0"/>
            </a:endParaRPr>
          </a:p>
        </p:txBody>
      </p:sp>
      <p:sp>
        <p:nvSpPr>
          <p:cNvPr id="28" name="Rounded Rectangle 27"/>
          <p:cNvSpPr/>
          <p:nvPr/>
        </p:nvSpPr>
        <p:spPr>
          <a:xfrm>
            <a:off x="7863837" y="2468880"/>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Gemini 3.7 Flash
</a:t>
            </a:r>
            <a:r>
              <a:rPr sz="1200">
                <a:solidFill>
                  <a:srgbClr val="6B6B6B"/>
                </a:solidFill>
                <a:latin typeface="Arial" panose="020B0604020202020204" pitchFamily="34" charset="0"/>
                <a:cs typeface="Arial" panose="020B0604020202020204" pitchFamily="34" charset="0"/>
              </a:rPr>
              <a:t>classify · normalize</a:t>
            </a:r>
            <a:endParaRPr sz="1200">
              <a:solidFill>
                <a:srgbClr val="6B6B6B"/>
              </a:solidFill>
              <a:latin typeface="Arial" panose="020B0604020202020204" pitchFamily="34" charset="0"/>
              <a:cs typeface="Arial" panose="020B0604020202020204" pitchFamily="34" charset="0"/>
            </a:endParaRPr>
          </a:p>
        </p:txBody>
      </p:sp>
      <p:sp>
        <p:nvSpPr>
          <p:cNvPr id="29" name="Rounded Rectangle 28"/>
          <p:cNvSpPr/>
          <p:nvPr/>
        </p:nvSpPr>
        <p:spPr>
          <a:xfrm>
            <a:off x="7863837" y="3163824"/>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Gemini 3.1 Pro
</a:t>
            </a:r>
            <a:r>
              <a:rPr sz="1200">
                <a:solidFill>
                  <a:srgbClr val="6B6B6B"/>
                </a:solidFill>
                <a:latin typeface="Arial" panose="020B0604020202020204" pitchFamily="34" charset="0"/>
                <a:cs typeface="Arial" panose="020B0604020202020204" pitchFamily="34" charset="0"/>
              </a:rPr>
              <a:t>extract · critique · copy</a:t>
            </a:r>
            <a:endParaRPr sz="1200">
              <a:solidFill>
                <a:srgbClr val="6B6B6B"/>
              </a:solidFill>
              <a:latin typeface="Arial" panose="020B0604020202020204" pitchFamily="34" charset="0"/>
              <a:cs typeface="Arial" panose="020B0604020202020204" pitchFamily="34" charset="0"/>
            </a:endParaRPr>
          </a:p>
        </p:txBody>
      </p:sp>
      <p:sp>
        <p:nvSpPr>
          <p:cNvPr id="30" name="Rounded Rectangle 29"/>
          <p:cNvSpPr/>
          <p:nvPr/>
        </p:nvSpPr>
        <p:spPr>
          <a:xfrm>
            <a:off x="7863837" y="3858768"/>
            <a:ext cx="1865375" cy="566928"/>
          </a:xfrm>
          <a:prstGeom prst="roundRect">
            <a:avLst/>
          </a:prstGeom>
          <a:solidFill>
            <a:srgbClr val="E9F6EE"/>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Deterministic reader
</a:t>
            </a:r>
            <a:r>
              <a:rPr sz="1200">
                <a:solidFill>
                  <a:srgbClr val="6B6B6B"/>
                </a:solidFill>
                <a:latin typeface="Arial" panose="020B0604020202020204" pitchFamily="34" charset="0"/>
                <a:cs typeface="Arial" panose="020B0604020202020204" pitchFamily="34" charset="0"/>
              </a:rPr>
              <a:t>runs with no API key</a:t>
            </a:r>
            <a:endParaRPr sz="1200">
              <a:solidFill>
                <a:srgbClr val="6B6B6B"/>
              </a:solidFill>
              <a:latin typeface="Arial" panose="020B0604020202020204" pitchFamily="34" charset="0"/>
              <a:cs typeface="Arial" panose="020B0604020202020204" pitchFamily="34" charset="0"/>
            </a:endParaRPr>
          </a:p>
        </p:txBody>
      </p:sp>
      <p:sp>
        <p:nvSpPr>
          <p:cNvPr id="31" name="Rounded Rectangle 30"/>
          <p:cNvSpPr/>
          <p:nvPr/>
        </p:nvSpPr>
        <p:spPr>
          <a:xfrm>
            <a:off x="7863837" y="4553712"/>
            <a:ext cx="1865375" cy="566928"/>
          </a:xfrm>
          <a:prstGeom prst="round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withFallback()
</a:t>
            </a:r>
            <a:r>
              <a:rPr sz="1200">
                <a:solidFill>
                  <a:srgbClr val="6B6B6B"/>
                </a:solidFill>
                <a:latin typeface="Arial" panose="020B0604020202020204" pitchFamily="34" charset="0"/>
                <a:cs typeface="Arial" panose="020B0604020202020204" pitchFamily="34" charset="0"/>
              </a:rPr>
              <a:t>model failure → degrade</a:t>
            </a:r>
            <a:endParaRPr sz="1200">
              <a:solidFill>
                <a:srgbClr val="6B6B6B"/>
              </a:solidFill>
              <a:latin typeface="Arial" panose="020B0604020202020204" pitchFamily="34" charset="0"/>
              <a:cs typeface="Arial" panose="020B0604020202020204" pitchFamily="34" charset="0"/>
            </a:endParaRPr>
          </a:p>
        </p:txBody>
      </p:sp>
      <p:sp>
        <p:nvSpPr>
          <p:cNvPr id="32" name="Rectangle 31"/>
          <p:cNvSpPr/>
          <p:nvPr/>
        </p:nvSpPr>
        <p:spPr>
          <a:xfrm>
            <a:off x="10048236" y="2103120"/>
            <a:ext cx="2084831" cy="3246120"/>
          </a:xfrm>
          <a:prstGeom prst="rect">
            <a:avLst/>
          </a:prstGeom>
          <a:solidFill>
            <a:srgbClr val="EDF3FA"/>
          </a:solidFill>
          <a:ln w="12700">
            <a:solidFill>
              <a:srgbClr val="D8DE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Arial" panose="020B0604020202020204" pitchFamily="34" charset="0"/>
              <a:cs typeface="Arial" panose="020B0604020202020204" pitchFamily="34" charset="0"/>
            </a:endParaRPr>
          </a:p>
        </p:txBody>
      </p:sp>
      <p:sp>
        <p:nvSpPr>
          <p:cNvPr id="33" name="TextBox 32"/>
          <p:cNvSpPr txBox="1"/>
          <p:nvPr/>
        </p:nvSpPr>
        <p:spPr>
          <a:xfrm>
            <a:off x="10139676" y="2157984"/>
            <a:ext cx="2084831" cy="212090"/>
          </a:xfrm>
          <a:prstGeom prst="rect">
            <a:avLst/>
          </a:prstGeom>
          <a:noFill/>
        </p:spPr>
        <p:txBody>
          <a:bodyPr wrap="square" lIns="0" tIns="0" rIns="0" bIns="0" anchor="t">
            <a:spAutoFit/>
          </a:bodyPr>
          <a:lstStyle/>
          <a:p>
            <a:pPr algn="l">
              <a:lnSpc>
                <a:spcPct val="115000"/>
              </a:lnSpc>
            </a:pPr>
            <a:r>
              <a:rPr sz="1200" b="1">
                <a:solidFill>
                  <a:srgbClr val="1E88E5"/>
                </a:solidFill>
                <a:latin typeface="Arial" panose="020B0604020202020204" pitchFamily="34" charset="0"/>
                <a:cs typeface="Arial" panose="020B0604020202020204" pitchFamily="34" charset="0"/>
              </a:rPr>
              <a:t>OUTPUTS</a:t>
            </a:r>
            <a:endParaRPr sz="1200" b="1">
              <a:solidFill>
                <a:srgbClr val="1E88E5"/>
              </a:solidFill>
              <a:latin typeface="Arial" panose="020B0604020202020204" pitchFamily="34" charset="0"/>
              <a:cs typeface="Arial" panose="020B0604020202020204" pitchFamily="34" charset="0"/>
            </a:endParaRPr>
          </a:p>
        </p:txBody>
      </p:sp>
      <p:sp>
        <p:nvSpPr>
          <p:cNvPr id="34" name="Rounded Rectangle 33"/>
          <p:cNvSpPr/>
          <p:nvPr/>
        </p:nvSpPr>
        <p:spPr>
          <a:xfrm>
            <a:off x="10157964" y="2468880"/>
            <a:ext cx="1865375" cy="566928"/>
          </a:xfrm>
          <a:prstGeom prst="roundRect">
            <a:avLst/>
          </a:prstGeom>
          <a:solidFill>
            <a:srgbClr val="E8F1FC"/>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Attribute record
</a:t>
            </a:r>
            <a:r>
              <a:rPr sz="1200">
                <a:solidFill>
                  <a:srgbClr val="6B6B6B"/>
                </a:solidFill>
                <a:latin typeface="Arial" panose="020B0604020202020204" pitchFamily="34" charset="0"/>
                <a:cs typeface="Arial" panose="020B0604020202020204" pitchFamily="34" charset="0"/>
              </a:rPr>
              <a:t>value + span + confidence</a:t>
            </a:r>
            <a:endParaRPr sz="1200">
              <a:solidFill>
                <a:srgbClr val="6B6B6B"/>
              </a:solidFill>
              <a:latin typeface="Arial" panose="020B0604020202020204" pitchFamily="34" charset="0"/>
              <a:cs typeface="Arial" panose="020B0604020202020204" pitchFamily="34" charset="0"/>
            </a:endParaRPr>
          </a:p>
        </p:txBody>
      </p:sp>
      <p:sp>
        <p:nvSpPr>
          <p:cNvPr id="35" name="Rounded Rectangle 34"/>
          <p:cNvSpPr/>
          <p:nvPr/>
        </p:nvSpPr>
        <p:spPr>
          <a:xfrm>
            <a:off x="10157964" y="3163824"/>
            <a:ext cx="1865375" cy="566928"/>
          </a:xfrm>
          <a:prstGeom prst="roundRect">
            <a:avLst/>
          </a:prstGeom>
          <a:solidFill>
            <a:srgbClr val="E8F1FC"/>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Workspace
</a:t>
            </a:r>
            <a:r>
              <a:rPr sz="1200">
                <a:solidFill>
                  <a:srgbClr val="6B6B6B"/>
                </a:solidFill>
                <a:latin typeface="Arial" panose="020B0604020202020204" pitchFamily="34" charset="0"/>
                <a:cs typeface="Arial" panose="020B0604020202020204" pitchFamily="34" charset="0"/>
              </a:rPr>
              <a:t>browser-held catalogue</a:t>
            </a:r>
            <a:endParaRPr sz="1200">
              <a:solidFill>
                <a:srgbClr val="6B6B6B"/>
              </a:solidFill>
              <a:latin typeface="Arial" panose="020B0604020202020204" pitchFamily="34" charset="0"/>
              <a:cs typeface="Arial" panose="020B0604020202020204" pitchFamily="34" charset="0"/>
            </a:endParaRPr>
          </a:p>
        </p:txBody>
      </p:sp>
      <p:sp>
        <p:nvSpPr>
          <p:cNvPr id="36" name="Rounded Rectangle 35"/>
          <p:cNvSpPr/>
          <p:nvPr/>
        </p:nvSpPr>
        <p:spPr>
          <a:xfrm>
            <a:off x="10157964" y="3858768"/>
            <a:ext cx="1865375" cy="566928"/>
          </a:xfrm>
          <a:prstGeom prst="roundRect">
            <a:avLst/>
          </a:prstGeom>
          <a:solidFill>
            <a:srgbClr val="E8F1FC"/>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Search · facets · SEO
</a:t>
            </a:r>
            <a:r>
              <a:rPr sz="1200">
                <a:solidFill>
                  <a:srgbClr val="6B6B6B"/>
                </a:solidFill>
                <a:latin typeface="Arial" panose="020B0604020202020204" pitchFamily="34" charset="0"/>
                <a:cs typeface="Arial" panose="020B0604020202020204" pitchFamily="34" charset="0"/>
              </a:rPr>
              <a:t>commerce-ready</a:t>
            </a:r>
            <a:endParaRPr sz="1200">
              <a:solidFill>
                <a:srgbClr val="6B6B6B"/>
              </a:solidFill>
              <a:latin typeface="Arial" panose="020B0604020202020204" pitchFamily="34" charset="0"/>
              <a:cs typeface="Arial" panose="020B0604020202020204" pitchFamily="34" charset="0"/>
            </a:endParaRPr>
          </a:p>
        </p:txBody>
      </p:sp>
      <p:sp>
        <p:nvSpPr>
          <p:cNvPr id="37" name="Rounded Rectangle 36"/>
          <p:cNvSpPr/>
          <p:nvPr/>
        </p:nvSpPr>
        <p:spPr>
          <a:xfrm>
            <a:off x="10168124" y="4553712"/>
            <a:ext cx="1865375" cy="566928"/>
          </a:xfrm>
          <a:prstGeom prst="roundRect">
            <a:avLst/>
          </a:prstGeom>
          <a:solidFill>
            <a:srgbClr val="E8F1FC"/>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a:solidFill>
                  <a:srgbClr val="1A1A1A"/>
                </a:solidFill>
                <a:latin typeface="Arial" panose="020B0604020202020204" pitchFamily="34" charset="0"/>
                <a:cs typeface="Arial" panose="020B0604020202020204" pitchFamily="34" charset="0"/>
              </a:rPr>
              <a:t>Knowledge graph
</a:t>
            </a:r>
            <a:r>
              <a:rPr sz="1200">
                <a:solidFill>
                  <a:srgbClr val="6B6B6B"/>
                </a:solidFill>
                <a:latin typeface="Arial" panose="020B0604020202020204" pitchFamily="34" charset="0"/>
                <a:cs typeface="Arial" panose="020B0604020202020204" pitchFamily="34" charset="0"/>
              </a:rPr>
              <a:t>90 nodes · 220 edges</a:t>
            </a:r>
            <a:endParaRPr sz="1200">
              <a:solidFill>
                <a:srgbClr val="6B6B6B"/>
              </a:solidFill>
              <a:latin typeface="Arial" panose="020B0604020202020204" pitchFamily="34" charset="0"/>
              <a:cs typeface="Arial" panose="020B0604020202020204" pitchFamily="34" charset="0"/>
            </a:endParaRPr>
          </a:p>
        </p:txBody>
      </p:sp>
      <p:sp>
        <p:nvSpPr>
          <p:cNvPr id="38" name="Right Arrow 37"/>
          <p:cNvSpPr/>
          <p:nvPr/>
        </p:nvSpPr>
        <p:spPr>
          <a:xfrm>
            <a:off x="2688335" y="3794760"/>
            <a:ext cx="237744" cy="91440"/>
          </a:xfrm>
          <a:prstGeom prst="rightArrow">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Arial" panose="020B0604020202020204" pitchFamily="34" charset="0"/>
              <a:cs typeface="Arial" panose="020B0604020202020204" pitchFamily="34" charset="0"/>
            </a:endParaRPr>
          </a:p>
        </p:txBody>
      </p:sp>
      <p:sp>
        <p:nvSpPr>
          <p:cNvPr id="39" name="Right Arrow 38"/>
          <p:cNvSpPr/>
          <p:nvPr/>
        </p:nvSpPr>
        <p:spPr>
          <a:xfrm>
            <a:off x="5084062" y="3794760"/>
            <a:ext cx="237744" cy="91440"/>
          </a:xfrm>
          <a:prstGeom prst="rightArrow">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Arial" panose="020B0604020202020204" pitchFamily="34" charset="0"/>
              <a:cs typeface="Arial" panose="020B0604020202020204" pitchFamily="34" charset="0"/>
            </a:endParaRPr>
          </a:p>
        </p:txBody>
      </p:sp>
      <p:sp>
        <p:nvSpPr>
          <p:cNvPr id="40" name="Right Arrow 39"/>
          <p:cNvSpPr/>
          <p:nvPr/>
        </p:nvSpPr>
        <p:spPr>
          <a:xfrm>
            <a:off x="7479789" y="3794760"/>
            <a:ext cx="237744" cy="91440"/>
          </a:xfrm>
          <a:prstGeom prst="rightArrow">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Arial" panose="020B0604020202020204" pitchFamily="34" charset="0"/>
              <a:cs typeface="Arial" panose="020B0604020202020204" pitchFamily="34" charset="0"/>
            </a:endParaRPr>
          </a:p>
        </p:txBody>
      </p:sp>
      <p:sp>
        <p:nvSpPr>
          <p:cNvPr id="41" name="Right Arrow 40"/>
          <p:cNvSpPr/>
          <p:nvPr/>
        </p:nvSpPr>
        <p:spPr>
          <a:xfrm>
            <a:off x="9855196" y="3794760"/>
            <a:ext cx="237744" cy="91440"/>
          </a:xfrm>
          <a:prstGeom prst="rightArrow">
            <a:avLst/>
          </a:prstGeom>
          <a:solidFill>
            <a:srgbClr val="2E9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Arial" panose="020B0604020202020204" pitchFamily="34" charset="0"/>
              <a:cs typeface="Arial" panose="020B0604020202020204" pitchFamily="34" charset="0"/>
            </a:endParaRPr>
          </a:p>
        </p:txBody>
      </p:sp>
      <p:sp>
        <p:nvSpPr>
          <p:cNvPr id="42" name="TextBox 41"/>
          <p:cNvSpPr txBox="1"/>
          <p:nvPr/>
        </p:nvSpPr>
        <p:spPr>
          <a:xfrm>
            <a:off x="566928" y="5532120"/>
            <a:ext cx="11057839" cy="461645"/>
          </a:xfrm>
          <a:prstGeom prst="rect">
            <a:avLst/>
          </a:prstGeom>
          <a:noFill/>
        </p:spPr>
        <p:txBody>
          <a:bodyPr wrap="square" lIns="0" tIns="0" rIns="0" bIns="0" anchor="t">
            <a:spAutoFit/>
          </a:bodyPr>
          <a:lstStyle/>
          <a:p>
            <a:pPr algn="l">
              <a:lnSpc>
                <a:spcPct val="125000"/>
              </a:lnSpc>
            </a:pPr>
            <a:r>
              <a:rPr sz="1200" b="0">
                <a:solidFill>
                  <a:srgbClr val="6B6B6B"/>
                </a:solidFill>
                <a:latin typeface="Arial" panose="020B0604020202020204" pitchFamily="34" charset="0"/>
                <a:cs typeface="Arial" panose="020B0604020202020204" pitchFamily="34" charset="0"/>
              </a:rPr>
              <a:t>Next.js 16 App Router on Vercel · stateless serverless API routes · SSE-streamed trace · the workspace lives in the browser, so the server holds no per-user state and scales horizontally without a session store.</a:t>
            </a:r>
            <a:endParaRPr sz="1200" b="0">
              <a:solidFill>
                <a:srgbClr val="6B6B6B"/>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7" name="TextBox 6"/>
          <p:cNvSpPr txBox="1"/>
          <p:nvPr/>
        </p:nvSpPr>
        <p:spPr>
          <a:xfrm>
            <a:off x="566928" y="1290193"/>
            <a:ext cx="11057839" cy="424180"/>
          </a:xfrm>
          <a:prstGeom prst="rect">
            <a:avLst/>
          </a:prstGeom>
          <a:noFill/>
        </p:spPr>
        <p:txBody>
          <a:bodyPr wrap="square" lIns="0" tIns="0" rIns="0" bIns="0" anchor="t">
            <a:spAutoFit/>
          </a:bodyPr>
          <a:lstStyle/>
          <a:p>
            <a:pPr algn="l">
              <a:lnSpc>
                <a:spcPct val="115000"/>
              </a:lnSpc>
            </a:pPr>
            <a:r>
              <a:rPr sz="2400" b="0">
                <a:solidFill>
                  <a:srgbClr val="1A1A1A"/>
                </a:solidFill>
                <a:latin typeface="Arial" panose="020B0604020202020204" pitchFamily="34" charset="0"/>
                <a:cs typeface="Arial" panose="020B0604020202020204" pitchFamily="34" charset="0"/>
              </a:rPr>
              <a:t>Technologies used in the solution</a:t>
            </a:r>
            <a:endParaRPr sz="2400" b="0">
              <a:solidFill>
                <a:srgbClr val="1A1A1A"/>
              </a:solidFill>
              <a:latin typeface="Arial" panose="020B0604020202020204" pitchFamily="34" charset="0"/>
              <a:cs typeface="Arial" panose="020B0604020202020204" pitchFamily="34" charset="0"/>
            </a:endParaRPr>
          </a:p>
        </p:txBody>
      </p:sp>
      <p:sp>
        <p:nvSpPr>
          <p:cNvPr id="8" name="Rounded Rectangle 7"/>
          <p:cNvSpPr/>
          <p:nvPr>
            <p:custDataLst>
              <p:tags r:id="rId2"/>
            </p:custDataLst>
          </p:nvPr>
        </p:nvSpPr>
        <p:spPr>
          <a:xfrm>
            <a:off x="567055" y="2042160"/>
            <a:ext cx="2697480" cy="3348355"/>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9" name="Rounded Rectangle 8"/>
          <p:cNvSpPr/>
          <p:nvPr>
            <p:custDataLst>
              <p:tags r:id="rId3"/>
            </p:custDataLst>
          </p:nvPr>
        </p:nvSpPr>
        <p:spPr>
          <a:xfrm>
            <a:off x="566928" y="2042160"/>
            <a:ext cx="2697480" cy="402336"/>
          </a:xfrm>
          <a:prstGeom prst="roundRect">
            <a:avLst/>
          </a:prstGeom>
          <a:solidFill>
            <a:srgbClr val="003C7D"/>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00000"/>
              </a:lnSpc>
            </a:pPr>
            <a:r>
              <a:rPr sz="1400" b="1">
                <a:solidFill>
                  <a:srgbClr val="FFFFFF"/>
                </a:solidFill>
                <a:latin typeface="Arial" panose="020B0604020202020204" pitchFamily="34" charset="0"/>
                <a:cs typeface="Arial" panose="020B0604020202020204" pitchFamily="34" charset="0"/>
              </a:rPr>
              <a:t>Frontend</a:t>
            </a:r>
            <a:endParaRPr sz="1400" b="1">
              <a:solidFill>
                <a:srgbClr val="FFFFFF"/>
              </a:solidFill>
              <a:latin typeface="Arial" panose="020B0604020202020204" pitchFamily="34" charset="0"/>
              <a:cs typeface="Arial" panose="020B0604020202020204" pitchFamily="34" charset="0"/>
            </a:endParaRPr>
          </a:p>
        </p:txBody>
      </p:sp>
      <p:sp>
        <p:nvSpPr>
          <p:cNvPr id="10" name="TextBox 9"/>
          <p:cNvSpPr txBox="1"/>
          <p:nvPr>
            <p:custDataLst>
              <p:tags r:id="rId4"/>
            </p:custDataLst>
          </p:nvPr>
        </p:nvSpPr>
        <p:spPr>
          <a:xfrm>
            <a:off x="713232" y="2609088"/>
            <a:ext cx="2404872" cy="2011680"/>
          </a:xfrm>
          <a:prstGeom prst="rect">
            <a:avLst/>
          </a:prstGeom>
          <a:noFill/>
        </p:spPr>
        <p:txBody>
          <a:bodyPr wrap="square" lIns="0" tIns="0" rIns="0" bIns="0">
            <a:spAutoFit/>
          </a:bodyPr>
          <a:lstStyle/>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Next.js 16 (App Router)</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React 19 + TypeScript 5</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Tailwind CSS v4</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Server-Sent Events for the live trace</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Inline SVG graph + charts</a:t>
            </a:r>
            <a:endParaRPr sz="1400">
              <a:solidFill>
                <a:srgbClr val="3C3C3C"/>
              </a:solidFill>
              <a:latin typeface="Arial" panose="020B0604020202020204" pitchFamily="34" charset="0"/>
              <a:cs typeface="Arial" panose="020B0604020202020204" pitchFamily="34" charset="0"/>
            </a:endParaRPr>
          </a:p>
        </p:txBody>
      </p:sp>
      <p:sp>
        <p:nvSpPr>
          <p:cNvPr id="11" name="Rounded Rectangle 10"/>
          <p:cNvSpPr/>
          <p:nvPr>
            <p:custDataLst>
              <p:tags r:id="rId5"/>
            </p:custDataLst>
          </p:nvPr>
        </p:nvSpPr>
        <p:spPr>
          <a:xfrm>
            <a:off x="3383280" y="2042160"/>
            <a:ext cx="2697480" cy="3348355"/>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12" name="Rounded Rectangle 11"/>
          <p:cNvSpPr/>
          <p:nvPr>
            <p:custDataLst>
              <p:tags r:id="rId6"/>
            </p:custDataLst>
          </p:nvPr>
        </p:nvSpPr>
        <p:spPr>
          <a:xfrm>
            <a:off x="3383280" y="2042160"/>
            <a:ext cx="2697480" cy="402336"/>
          </a:xfrm>
          <a:prstGeom prst="roundRect">
            <a:avLst/>
          </a:prstGeom>
          <a:solidFill>
            <a:srgbClr val="003C7D"/>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00000"/>
              </a:lnSpc>
            </a:pPr>
            <a:r>
              <a:rPr sz="1400" b="1">
                <a:solidFill>
                  <a:srgbClr val="FFFFFF"/>
                </a:solidFill>
                <a:latin typeface="Arial" panose="020B0604020202020204" pitchFamily="34" charset="0"/>
                <a:cs typeface="Arial" panose="020B0604020202020204" pitchFamily="34" charset="0"/>
              </a:rPr>
              <a:t>AI / ML</a:t>
            </a:r>
            <a:endParaRPr sz="1400" b="1">
              <a:solidFill>
                <a:srgbClr val="FFFFFF"/>
              </a:solidFill>
              <a:latin typeface="Arial" panose="020B0604020202020204" pitchFamily="34" charset="0"/>
              <a:cs typeface="Arial" panose="020B0604020202020204" pitchFamily="34" charset="0"/>
            </a:endParaRPr>
          </a:p>
        </p:txBody>
      </p:sp>
      <p:sp>
        <p:nvSpPr>
          <p:cNvPr id="13" name="TextBox 12"/>
          <p:cNvSpPr txBox="1"/>
          <p:nvPr>
            <p:custDataLst>
              <p:tags r:id="rId7"/>
            </p:custDataLst>
          </p:nvPr>
        </p:nvSpPr>
        <p:spPr>
          <a:xfrm>
            <a:off x="3529584" y="2609088"/>
            <a:ext cx="2404872" cy="2787015"/>
          </a:xfrm>
          <a:prstGeom prst="rect">
            <a:avLst/>
          </a:prstGeom>
          <a:noFill/>
        </p:spPr>
        <p:txBody>
          <a:bodyPr wrap="square" lIns="0" tIns="0" rIns="0" bIns="0">
            <a:spAutoFit/>
          </a:bodyPr>
          <a:lstStyle/>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Google Gemini via @google/genai</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gemini-3.7-flash </a:t>
            </a:r>
            <a:r>
              <a:rPr lang="en-US" sz="1400">
                <a:solidFill>
                  <a:srgbClr val="3C3C3C"/>
                </a:solidFill>
                <a:latin typeface="Arial" panose="020B0604020202020204" pitchFamily="34" charset="0"/>
                <a:cs typeface="Arial" panose="020B0604020202020204" pitchFamily="34" charset="0"/>
              </a:rPr>
              <a:t>:</a:t>
            </a:r>
            <a:r>
              <a:rPr sz="1400">
                <a:solidFill>
                  <a:srgbClr val="3C3C3C"/>
                </a:solidFill>
                <a:latin typeface="Arial" panose="020B0604020202020204" pitchFamily="34" charset="0"/>
                <a:cs typeface="Arial" panose="020B0604020202020204" pitchFamily="34" charset="0"/>
              </a:rPr>
              <a:t> classify, normalize</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gemini-3.1-pro </a:t>
            </a:r>
            <a:r>
              <a:rPr lang="en-US" sz="1400">
                <a:solidFill>
                  <a:srgbClr val="3C3C3C"/>
                </a:solidFill>
                <a:latin typeface="Arial" panose="020B0604020202020204" pitchFamily="34" charset="0"/>
                <a:cs typeface="Arial" panose="020B0604020202020204" pitchFamily="34" charset="0"/>
              </a:rPr>
              <a:t>:</a:t>
            </a:r>
            <a:r>
              <a:rPr sz="1400">
                <a:solidFill>
                  <a:srgbClr val="3C3C3C"/>
                </a:solidFill>
                <a:latin typeface="Arial" panose="020B0604020202020204" pitchFamily="34" charset="0"/>
                <a:cs typeface="Arial" panose="020B0604020202020204" pitchFamily="34" charset="0"/>
              </a:rPr>
              <a:t> extract, critique</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Schema-constrained JSON output</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endParaRPr sz="1400">
              <a:solidFill>
                <a:srgbClr val="3C3C3C"/>
              </a:solidFill>
              <a:latin typeface="Arial" panose="020B0604020202020204" pitchFamily="34" charset="0"/>
              <a:cs typeface="Arial" panose="020B0604020202020204" pitchFamily="34" charset="0"/>
            </a:endParaRPr>
          </a:p>
        </p:txBody>
      </p:sp>
      <p:sp>
        <p:nvSpPr>
          <p:cNvPr id="14" name="Rounded Rectangle 13"/>
          <p:cNvSpPr/>
          <p:nvPr>
            <p:custDataLst>
              <p:tags r:id="rId8"/>
            </p:custDataLst>
          </p:nvPr>
        </p:nvSpPr>
        <p:spPr>
          <a:xfrm>
            <a:off x="6199505" y="2042160"/>
            <a:ext cx="2697480" cy="335407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15" name="Rounded Rectangle 14"/>
          <p:cNvSpPr/>
          <p:nvPr>
            <p:custDataLst>
              <p:tags r:id="rId9"/>
            </p:custDataLst>
          </p:nvPr>
        </p:nvSpPr>
        <p:spPr>
          <a:xfrm>
            <a:off x="6199632" y="2042160"/>
            <a:ext cx="2697480" cy="402336"/>
          </a:xfrm>
          <a:prstGeom prst="roundRect">
            <a:avLst/>
          </a:prstGeom>
          <a:solidFill>
            <a:srgbClr val="003C7D"/>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00000"/>
              </a:lnSpc>
            </a:pPr>
            <a:r>
              <a:rPr sz="1400" b="1">
                <a:solidFill>
                  <a:srgbClr val="FFFFFF"/>
                </a:solidFill>
                <a:latin typeface="Arial" panose="020B0604020202020204" pitchFamily="34" charset="0"/>
                <a:cs typeface="Arial" panose="020B0604020202020204" pitchFamily="34" charset="0"/>
              </a:rPr>
              <a:t>Data &amp; processing</a:t>
            </a:r>
            <a:endParaRPr sz="1400" b="1">
              <a:solidFill>
                <a:srgbClr val="FFFFFF"/>
              </a:solidFill>
              <a:latin typeface="Arial" panose="020B0604020202020204" pitchFamily="34" charset="0"/>
              <a:cs typeface="Arial" panose="020B0604020202020204" pitchFamily="34" charset="0"/>
            </a:endParaRPr>
          </a:p>
        </p:txBody>
      </p:sp>
      <p:sp>
        <p:nvSpPr>
          <p:cNvPr id="16" name="TextBox 15"/>
          <p:cNvSpPr txBox="1"/>
          <p:nvPr>
            <p:custDataLst>
              <p:tags r:id="rId10"/>
            </p:custDataLst>
          </p:nvPr>
        </p:nvSpPr>
        <p:spPr>
          <a:xfrm>
            <a:off x="6345936" y="2609088"/>
            <a:ext cx="2404872" cy="2787015"/>
          </a:xfrm>
          <a:prstGeom prst="rect">
            <a:avLst/>
          </a:prstGeom>
          <a:noFill/>
        </p:spPr>
        <p:txBody>
          <a:bodyPr wrap="square" lIns="0" tIns="0" rIns="0" bIns="0">
            <a:spAutoFit/>
          </a:bodyPr>
          <a:lstStyle/>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unpdf </a:t>
            </a:r>
            <a:r>
              <a:rPr lang="en-US" sz="1400">
                <a:solidFill>
                  <a:srgbClr val="3C3C3C"/>
                </a:solidFill>
                <a:latin typeface="Arial" panose="020B0604020202020204" pitchFamily="34" charset="0"/>
                <a:cs typeface="Arial" panose="020B0604020202020204" pitchFamily="34" charset="0"/>
              </a:rPr>
              <a:t>:</a:t>
            </a:r>
            <a:r>
              <a:rPr sz="1400">
                <a:solidFill>
                  <a:srgbClr val="3C3C3C"/>
                </a:solidFill>
                <a:latin typeface="Arial" panose="020B0604020202020204" pitchFamily="34" charset="0"/>
                <a:cs typeface="Arial" panose="020B0604020202020204" pitchFamily="34" charset="0"/>
              </a:rPr>
              <a:t> PDF text-layer extraction</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Zod </a:t>
            </a:r>
            <a:r>
              <a:rPr lang="en-US" sz="1400">
                <a:solidFill>
                  <a:srgbClr val="3C3C3C"/>
                </a:solidFill>
                <a:latin typeface="Arial" panose="020B0604020202020204" pitchFamily="34" charset="0"/>
                <a:cs typeface="Arial" panose="020B0604020202020204" pitchFamily="34" charset="0"/>
              </a:rPr>
              <a:t>:</a:t>
            </a:r>
            <a:r>
              <a:rPr sz="1400">
                <a:solidFill>
                  <a:srgbClr val="3C3C3C"/>
                </a:solidFill>
                <a:latin typeface="Arial" panose="020B0604020202020204" pitchFamily="34" charset="0"/>
                <a:cs typeface="Arial" panose="020B0604020202020204" pitchFamily="34" charset="0"/>
              </a:rPr>
              <a:t> request validation</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Custom unit + enum normalizer</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Deterministic heuristic reader</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PVF taxonomy as declarative data</a:t>
            </a:r>
            <a:endParaRPr sz="1400">
              <a:solidFill>
                <a:srgbClr val="3C3C3C"/>
              </a:solidFill>
              <a:latin typeface="Arial" panose="020B0604020202020204" pitchFamily="34" charset="0"/>
              <a:cs typeface="Arial" panose="020B0604020202020204" pitchFamily="34" charset="0"/>
            </a:endParaRPr>
          </a:p>
        </p:txBody>
      </p:sp>
      <p:sp>
        <p:nvSpPr>
          <p:cNvPr id="17" name="Rounded Rectangle 16"/>
          <p:cNvSpPr/>
          <p:nvPr>
            <p:custDataLst>
              <p:tags r:id="rId11"/>
            </p:custDataLst>
          </p:nvPr>
        </p:nvSpPr>
        <p:spPr>
          <a:xfrm>
            <a:off x="9015730" y="2042160"/>
            <a:ext cx="2697480" cy="3354070"/>
          </a:xfrm>
          <a:prstGeom prst="round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18" name="Rounded Rectangle 17"/>
          <p:cNvSpPr/>
          <p:nvPr>
            <p:custDataLst>
              <p:tags r:id="rId12"/>
            </p:custDataLst>
          </p:nvPr>
        </p:nvSpPr>
        <p:spPr>
          <a:xfrm>
            <a:off x="9015984" y="2042160"/>
            <a:ext cx="2697480" cy="402336"/>
          </a:xfrm>
          <a:prstGeom prst="roundRect">
            <a:avLst/>
          </a:prstGeom>
          <a:solidFill>
            <a:srgbClr val="003C7D"/>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00000"/>
              </a:lnSpc>
            </a:pPr>
            <a:r>
              <a:rPr sz="1400" b="1">
                <a:solidFill>
                  <a:srgbClr val="FFFFFF"/>
                </a:solidFill>
                <a:latin typeface="Arial" panose="020B0604020202020204" pitchFamily="34" charset="0"/>
                <a:cs typeface="Arial" panose="020B0604020202020204" pitchFamily="34" charset="0"/>
              </a:rPr>
              <a:t>Infrastructure</a:t>
            </a:r>
            <a:endParaRPr sz="1400" b="1">
              <a:solidFill>
                <a:srgbClr val="FFFFFF"/>
              </a:solidFill>
              <a:latin typeface="Arial" panose="020B0604020202020204" pitchFamily="34" charset="0"/>
              <a:cs typeface="Arial" panose="020B0604020202020204" pitchFamily="34" charset="0"/>
            </a:endParaRPr>
          </a:p>
        </p:txBody>
      </p:sp>
      <p:sp>
        <p:nvSpPr>
          <p:cNvPr id="19" name="TextBox 18"/>
          <p:cNvSpPr txBox="1"/>
          <p:nvPr>
            <p:custDataLst>
              <p:tags r:id="rId13"/>
            </p:custDataLst>
          </p:nvPr>
        </p:nvSpPr>
        <p:spPr>
          <a:xfrm>
            <a:off x="9162288" y="2609088"/>
            <a:ext cx="2404872" cy="2270125"/>
          </a:xfrm>
          <a:prstGeom prst="rect">
            <a:avLst/>
          </a:prstGeom>
          <a:noFill/>
        </p:spPr>
        <p:txBody>
          <a:bodyPr wrap="square" lIns="0" tIns="0" rIns="0" bIns="0">
            <a:spAutoFit/>
          </a:bodyPr>
          <a:lstStyle/>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Vercel serverless functions</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Stateless API, no session store</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localStorage workspace</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Zero-config deploy, no env var required</a:t>
            </a:r>
            <a:endParaRPr sz="1400">
              <a:solidFill>
                <a:srgbClr val="3C3C3C"/>
              </a:solidFill>
              <a:latin typeface="Arial" panose="020B0604020202020204" pitchFamily="34" charset="0"/>
              <a:cs typeface="Arial" panose="020B0604020202020204" pitchFamily="34" charset="0"/>
            </a:endParaRPr>
          </a:p>
          <a:p>
            <a:pPr>
              <a:lnSpc>
                <a:spcPct val="120000"/>
              </a:lnSpc>
              <a:spcAft>
                <a:spcPts val="900"/>
              </a:spcAft>
            </a:pPr>
            <a:r>
              <a:rPr sz="1400">
                <a:solidFill>
                  <a:srgbClr val="1E88E5"/>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Graceful degradation on model failure</a:t>
            </a:r>
            <a:endParaRPr sz="1400">
              <a:solidFill>
                <a:srgbClr val="3C3C3C"/>
              </a:solidFill>
              <a:latin typeface="Arial" panose="020B0604020202020204" pitchFamily="34" charset="0"/>
              <a:cs typeface="Arial" panose="020B0604020202020204" pitchFamily="34" charset="0"/>
            </a:endParaRPr>
          </a:p>
        </p:txBody>
      </p:sp>
      <p:sp>
        <p:nvSpPr>
          <p:cNvPr id="20" name="TextBox 19"/>
          <p:cNvSpPr txBox="1"/>
          <p:nvPr/>
        </p:nvSpPr>
        <p:spPr>
          <a:xfrm>
            <a:off x="566928" y="5623560"/>
            <a:ext cx="11057839" cy="538480"/>
          </a:xfrm>
          <a:prstGeom prst="rect">
            <a:avLst/>
          </a:prstGeom>
          <a:noFill/>
        </p:spPr>
        <p:txBody>
          <a:bodyPr wrap="square" lIns="0" tIns="0" rIns="0" bIns="0" anchor="t">
            <a:spAutoFit/>
          </a:bodyPr>
          <a:lstStyle/>
          <a:p>
            <a:pPr algn="l">
              <a:lnSpc>
                <a:spcPct val="125000"/>
              </a:lnSpc>
            </a:pPr>
            <a:r>
              <a:rPr sz="1400" b="0">
                <a:solidFill>
                  <a:srgbClr val="6B6B6B"/>
                </a:solidFill>
                <a:latin typeface="Arial" panose="020B0604020202020204" pitchFamily="34" charset="0"/>
                <a:cs typeface="Arial" panose="020B0604020202020204" pitchFamily="34" charset="0"/>
              </a:rPr>
              <a:t>The entire engine runs deterministically with no API key at all</a:t>
            </a:r>
            <a:r>
              <a:rPr lang="en-US" sz="1400" b="0">
                <a:solidFill>
                  <a:srgbClr val="6B6B6B"/>
                </a:solidFill>
                <a:latin typeface="Arial" panose="020B0604020202020204" pitchFamily="34" charset="0"/>
                <a:cs typeface="Arial" panose="020B0604020202020204" pitchFamily="34" charset="0"/>
              </a:rPr>
              <a:t>,</a:t>
            </a:r>
            <a:r>
              <a:rPr sz="1400" b="0">
                <a:solidFill>
                  <a:srgbClr val="6B6B6B"/>
                </a:solidFill>
                <a:latin typeface="Arial" panose="020B0604020202020204" pitchFamily="34" charset="0"/>
                <a:cs typeface="Arial" panose="020B0604020202020204" pitchFamily="34" charset="0"/>
              </a:rPr>
              <a:t> the model layer upgrades quality, it is never a dependency for the app to function.</a:t>
            </a:r>
            <a:endParaRPr sz="1400" b="0">
              <a:solidFill>
                <a:srgbClr val="6B6B6B"/>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7" name="TextBox 6"/>
          <p:cNvSpPr txBox="1"/>
          <p:nvPr/>
        </p:nvSpPr>
        <p:spPr>
          <a:xfrm>
            <a:off x="566928" y="1298448"/>
            <a:ext cx="11057839" cy="424180"/>
          </a:xfrm>
          <a:prstGeom prst="rect">
            <a:avLst/>
          </a:prstGeom>
          <a:noFill/>
        </p:spPr>
        <p:txBody>
          <a:bodyPr wrap="square" lIns="0" tIns="0" rIns="0" bIns="0" anchor="t">
            <a:spAutoFit/>
          </a:bodyPr>
          <a:lstStyle/>
          <a:p>
            <a:pPr algn="l">
              <a:lnSpc>
                <a:spcPct val="115000"/>
              </a:lnSpc>
            </a:pPr>
            <a:r>
              <a:rPr sz="2400" b="0">
                <a:solidFill>
                  <a:srgbClr val="1A1A1A"/>
                </a:solidFill>
                <a:latin typeface="Arial" panose="020B0604020202020204" pitchFamily="34" charset="0"/>
                <a:cs typeface="Arial" panose="020B0604020202020204" pitchFamily="34" charset="0"/>
              </a:rPr>
              <a:t>Estimated implementation cos</a:t>
            </a:r>
            <a:r>
              <a:rPr lang="en-US" sz="2400" b="0">
                <a:solidFill>
                  <a:srgbClr val="1A1A1A"/>
                </a:solidFill>
                <a:latin typeface="Arial" panose="020B0604020202020204" pitchFamily="34" charset="0"/>
                <a:cs typeface="Arial" panose="020B0604020202020204" pitchFamily="34" charset="0"/>
              </a:rPr>
              <a:t>t</a:t>
            </a:r>
            <a:endParaRPr lang="en-US" sz="2400" b="0">
              <a:solidFill>
                <a:srgbClr val="1A1A1A"/>
              </a:solidFill>
              <a:latin typeface="Arial" panose="020B0604020202020204" pitchFamily="34" charset="0"/>
              <a:cs typeface="Arial" panose="020B0604020202020204" pitchFamily="34" charset="0"/>
            </a:endParaRPr>
          </a:p>
        </p:txBody>
      </p:sp>
      <p:sp>
        <p:nvSpPr>
          <p:cNvPr id="8" name="Rectangle 7"/>
          <p:cNvSpPr/>
          <p:nvPr/>
        </p:nvSpPr>
        <p:spPr>
          <a:xfrm>
            <a:off x="566928" y="2184400"/>
            <a:ext cx="11064240" cy="457200"/>
          </a:xfrm>
          <a:prstGeom prst="rect">
            <a:avLst/>
          </a:prstGeom>
          <a:solidFill>
            <a:srgbClr val="E8F1FC"/>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9" name="TextBox 8"/>
          <p:cNvSpPr txBox="1"/>
          <p:nvPr/>
        </p:nvSpPr>
        <p:spPr>
          <a:xfrm>
            <a:off x="749808" y="2312416"/>
            <a:ext cx="4206240"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Component</a:t>
            </a:r>
            <a:endParaRPr sz="1400" b="1">
              <a:solidFill>
                <a:srgbClr val="1A1A1A"/>
              </a:solidFill>
              <a:latin typeface="Arial" panose="020B0604020202020204" pitchFamily="34" charset="0"/>
              <a:cs typeface="Arial" panose="020B0604020202020204" pitchFamily="34" charset="0"/>
            </a:endParaRPr>
          </a:p>
        </p:txBody>
      </p:sp>
      <p:sp>
        <p:nvSpPr>
          <p:cNvPr id="10" name="TextBox 9"/>
          <p:cNvSpPr txBox="1"/>
          <p:nvPr/>
        </p:nvSpPr>
        <p:spPr>
          <a:xfrm>
            <a:off x="5047488" y="2312416"/>
            <a:ext cx="4206240" cy="2470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Basis</a:t>
            </a:r>
            <a:endParaRPr sz="1400" b="0">
              <a:solidFill>
                <a:srgbClr val="6B6B6B"/>
              </a:solidFill>
              <a:latin typeface="Arial" panose="020B0604020202020204" pitchFamily="34" charset="0"/>
              <a:cs typeface="Arial" panose="020B0604020202020204" pitchFamily="34" charset="0"/>
            </a:endParaRPr>
          </a:p>
        </p:txBody>
      </p:sp>
      <p:sp>
        <p:nvSpPr>
          <p:cNvPr id="11" name="TextBox 10"/>
          <p:cNvSpPr txBox="1"/>
          <p:nvPr/>
        </p:nvSpPr>
        <p:spPr>
          <a:xfrm>
            <a:off x="9345168" y="2312416"/>
            <a:ext cx="2103120" cy="247015"/>
          </a:xfrm>
          <a:prstGeom prst="rect">
            <a:avLst/>
          </a:prstGeom>
          <a:noFill/>
        </p:spPr>
        <p:txBody>
          <a:bodyPr wrap="square" lIns="0" tIns="0" rIns="0" bIns="0" anchor="t">
            <a:spAutoFit/>
          </a:bodyPr>
          <a:lstStyle/>
          <a:p>
            <a:pPr algn="r">
              <a:lnSpc>
                <a:spcPct val="115000"/>
              </a:lnSpc>
            </a:pPr>
            <a:r>
              <a:rPr sz="1400" b="1">
                <a:solidFill>
                  <a:srgbClr val="1A1A1A"/>
                </a:solidFill>
                <a:latin typeface="Arial" panose="020B0604020202020204" pitchFamily="34" charset="0"/>
                <a:cs typeface="Arial" panose="020B0604020202020204" pitchFamily="34" charset="0"/>
              </a:rPr>
              <a:t>Monthly at 100k SKUs</a:t>
            </a:r>
            <a:endParaRPr sz="1400" b="1">
              <a:solidFill>
                <a:srgbClr val="1A1A1A"/>
              </a:solidFill>
              <a:latin typeface="Arial" panose="020B0604020202020204" pitchFamily="34" charset="0"/>
              <a:cs typeface="Arial" panose="020B0604020202020204" pitchFamily="34" charset="0"/>
            </a:endParaRPr>
          </a:p>
        </p:txBody>
      </p:sp>
      <p:sp>
        <p:nvSpPr>
          <p:cNvPr id="12" name="Rectangle 11"/>
          <p:cNvSpPr/>
          <p:nvPr/>
        </p:nvSpPr>
        <p:spPr>
          <a:xfrm>
            <a:off x="566928" y="2641600"/>
            <a:ext cx="11064240" cy="457200"/>
          </a:xfrm>
          <a:prstGeom prst="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13" name="TextBox 12"/>
          <p:cNvSpPr txBox="1"/>
          <p:nvPr/>
        </p:nvSpPr>
        <p:spPr>
          <a:xfrm>
            <a:off x="749808" y="2769616"/>
            <a:ext cx="4206240" cy="247015"/>
          </a:xfrm>
          <a:prstGeom prst="rect">
            <a:avLst/>
          </a:prstGeom>
          <a:noFill/>
        </p:spPr>
        <p:txBody>
          <a:bodyPr wrap="square" lIns="0" tIns="0" rIns="0" bIns="0" anchor="t">
            <a:spAutoFit/>
          </a:bodyPr>
          <a:lstStyle/>
          <a:p>
            <a:pPr algn="l">
              <a:lnSpc>
                <a:spcPct val="115000"/>
              </a:lnSpc>
            </a:pPr>
            <a:r>
              <a:rPr sz="1400" b="0">
                <a:solidFill>
                  <a:srgbClr val="3C3C3C"/>
                </a:solidFill>
                <a:latin typeface="Arial" panose="020B0604020202020204" pitchFamily="34" charset="0"/>
                <a:cs typeface="Arial" panose="020B0604020202020204" pitchFamily="34" charset="0"/>
              </a:rPr>
              <a:t>Gemini Flash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classify + normalize</a:t>
            </a:r>
            <a:endParaRPr sz="1400" b="0">
              <a:solidFill>
                <a:srgbClr val="3C3C3C"/>
              </a:solidFill>
              <a:latin typeface="Arial" panose="020B0604020202020204" pitchFamily="34" charset="0"/>
              <a:cs typeface="Arial" panose="020B0604020202020204" pitchFamily="34" charset="0"/>
            </a:endParaRPr>
          </a:p>
        </p:txBody>
      </p:sp>
      <p:sp>
        <p:nvSpPr>
          <p:cNvPr id="14" name="TextBox 13"/>
          <p:cNvSpPr txBox="1"/>
          <p:nvPr/>
        </p:nvSpPr>
        <p:spPr>
          <a:xfrm>
            <a:off x="5047488" y="2769616"/>
            <a:ext cx="4206240" cy="2470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~1.2k tokens / SKU, high volume</a:t>
            </a:r>
            <a:endParaRPr sz="1400" b="0">
              <a:solidFill>
                <a:srgbClr val="6B6B6B"/>
              </a:solidFill>
              <a:latin typeface="Arial" panose="020B0604020202020204" pitchFamily="34" charset="0"/>
              <a:cs typeface="Arial" panose="020B0604020202020204" pitchFamily="34" charset="0"/>
            </a:endParaRPr>
          </a:p>
        </p:txBody>
      </p:sp>
      <p:sp>
        <p:nvSpPr>
          <p:cNvPr id="15" name="TextBox 14"/>
          <p:cNvSpPr txBox="1"/>
          <p:nvPr/>
        </p:nvSpPr>
        <p:spPr>
          <a:xfrm>
            <a:off x="9345168" y="2769616"/>
            <a:ext cx="2103120" cy="247015"/>
          </a:xfrm>
          <a:prstGeom prst="rect">
            <a:avLst/>
          </a:prstGeom>
          <a:noFill/>
        </p:spPr>
        <p:txBody>
          <a:bodyPr wrap="square" lIns="0" tIns="0" rIns="0" bIns="0" anchor="t">
            <a:spAutoFit/>
          </a:bodyPr>
          <a:lstStyle/>
          <a:p>
            <a:pPr algn="r">
              <a:lnSpc>
                <a:spcPct val="115000"/>
              </a:lnSpc>
            </a:pPr>
            <a:r>
              <a:rPr sz="1400" b="0">
                <a:solidFill>
                  <a:srgbClr val="3C3C3C"/>
                </a:solidFill>
                <a:latin typeface="Arial" panose="020B0604020202020204" pitchFamily="34" charset="0"/>
                <a:cs typeface="Arial" panose="020B0604020202020204" pitchFamily="34" charset="0"/>
              </a:rPr>
              <a:t>≈ $18</a:t>
            </a:r>
            <a:endParaRPr sz="1400" b="0">
              <a:solidFill>
                <a:srgbClr val="3C3C3C"/>
              </a:solidFill>
              <a:latin typeface="Arial" panose="020B0604020202020204" pitchFamily="34" charset="0"/>
              <a:cs typeface="Arial" panose="020B0604020202020204" pitchFamily="34" charset="0"/>
            </a:endParaRPr>
          </a:p>
        </p:txBody>
      </p:sp>
      <p:sp>
        <p:nvSpPr>
          <p:cNvPr id="16" name="Rectangle 15"/>
          <p:cNvSpPr/>
          <p:nvPr/>
        </p:nvSpPr>
        <p:spPr>
          <a:xfrm>
            <a:off x="566928" y="3098800"/>
            <a:ext cx="11064240" cy="457200"/>
          </a:xfrm>
          <a:prstGeom prst="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17" name="TextBox 16"/>
          <p:cNvSpPr txBox="1"/>
          <p:nvPr/>
        </p:nvSpPr>
        <p:spPr>
          <a:xfrm>
            <a:off x="749808" y="3226816"/>
            <a:ext cx="4206240" cy="247015"/>
          </a:xfrm>
          <a:prstGeom prst="rect">
            <a:avLst/>
          </a:prstGeom>
          <a:noFill/>
        </p:spPr>
        <p:txBody>
          <a:bodyPr wrap="square" lIns="0" tIns="0" rIns="0" bIns="0" anchor="t">
            <a:spAutoFit/>
          </a:bodyPr>
          <a:lstStyle/>
          <a:p>
            <a:pPr algn="l">
              <a:lnSpc>
                <a:spcPct val="115000"/>
              </a:lnSpc>
            </a:pPr>
            <a:r>
              <a:rPr sz="1400" b="0">
                <a:solidFill>
                  <a:srgbClr val="3C3C3C"/>
                </a:solidFill>
                <a:latin typeface="Arial" panose="020B0604020202020204" pitchFamily="34" charset="0"/>
                <a:cs typeface="Arial" panose="020B0604020202020204" pitchFamily="34" charset="0"/>
              </a:rPr>
              <a:t>Gemini Pro </a:t>
            </a:r>
            <a:r>
              <a:rPr lang="en-US" sz="1400" b="0">
                <a:solidFill>
                  <a:srgbClr val="3C3C3C"/>
                </a:solidFill>
                <a:latin typeface="Arial" panose="020B0604020202020204" pitchFamily="34" charset="0"/>
                <a:cs typeface="Arial" panose="020B0604020202020204" pitchFamily="34" charset="0"/>
              </a:rPr>
              <a:t>:</a:t>
            </a:r>
            <a:r>
              <a:rPr sz="1400" b="0">
                <a:solidFill>
                  <a:srgbClr val="3C3C3C"/>
                </a:solidFill>
                <a:latin typeface="Arial" panose="020B0604020202020204" pitchFamily="34" charset="0"/>
                <a:cs typeface="Arial" panose="020B0604020202020204" pitchFamily="34" charset="0"/>
              </a:rPr>
              <a:t> extract + critique</a:t>
            </a:r>
            <a:endParaRPr sz="1400" b="0">
              <a:solidFill>
                <a:srgbClr val="3C3C3C"/>
              </a:solidFill>
              <a:latin typeface="Arial" panose="020B0604020202020204" pitchFamily="34" charset="0"/>
              <a:cs typeface="Arial" panose="020B0604020202020204" pitchFamily="34" charset="0"/>
            </a:endParaRPr>
          </a:p>
        </p:txBody>
      </p:sp>
      <p:sp>
        <p:nvSpPr>
          <p:cNvPr id="18" name="TextBox 17"/>
          <p:cNvSpPr txBox="1"/>
          <p:nvPr/>
        </p:nvSpPr>
        <p:spPr>
          <a:xfrm>
            <a:off x="5047488" y="3226816"/>
            <a:ext cx="4206240" cy="2470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~9k tokens / SKU, judgement calls</a:t>
            </a:r>
            <a:endParaRPr sz="1400" b="0">
              <a:solidFill>
                <a:srgbClr val="6B6B6B"/>
              </a:solidFill>
              <a:latin typeface="Arial" panose="020B0604020202020204" pitchFamily="34" charset="0"/>
              <a:cs typeface="Arial" panose="020B0604020202020204" pitchFamily="34" charset="0"/>
            </a:endParaRPr>
          </a:p>
        </p:txBody>
      </p:sp>
      <p:sp>
        <p:nvSpPr>
          <p:cNvPr id="19" name="TextBox 18"/>
          <p:cNvSpPr txBox="1"/>
          <p:nvPr/>
        </p:nvSpPr>
        <p:spPr>
          <a:xfrm>
            <a:off x="9345168" y="3226816"/>
            <a:ext cx="2103120" cy="247015"/>
          </a:xfrm>
          <a:prstGeom prst="rect">
            <a:avLst/>
          </a:prstGeom>
          <a:noFill/>
        </p:spPr>
        <p:txBody>
          <a:bodyPr wrap="square" lIns="0" tIns="0" rIns="0" bIns="0" anchor="t">
            <a:spAutoFit/>
          </a:bodyPr>
          <a:lstStyle/>
          <a:p>
            <a:pPr algn="r">
              <a:lnSpc>
                <a:spcPct val="115000"/>
              </a:lnSpc>
            </a:pPr>
            <a:r>
              <a:rPr sz="1400" b="0">
                <a:solidFill>
                  <a:srgbClr val="3C3C3C"/>
                </a:solidFill>
                <a:latin typeface="Arial" panose="020B0604020202020204" pitchFamily="34" charset="0"/>
                <a:cs typeface="Arial" panose="020B0604020202020204" pitchFamily="34" charset="0"/>
              </a:rPr>
              <a:t>≈ $310</a:t>
            </a:r>
            <a:endParaRPr sz="1400" b="0">
              <a:solidFill>
                <a:srgbClr val="3C3C3C"/>
              </a:solidFill>
              <a:latin typeface="Arial" panose="020B0604020202020204" pitchFamily="34" charset="0"/>
              <a:cs typeface="Arial" panose="020B0604020202020204" pitchFamily="34" charset="0"/>
            </a:endParaRPr>
          </a:p>
        </p:txBody>
      </p:sp>
      <p:sp>
        <p:nvSpPr>
          <p:cNvPr id="20" name="Rectangle 19"/>
          <p:cNvSpPr/>
          <p:nvPr/>
        </p:nvSpPr>
        <p:spPr>
          <a:xfrm>
            <a:off x="566928" y="3556000"/>
            <a:ext cx="11064240" cy="457200"/>
          </a:xfrm>
          <a:prstGeom prst="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21" name="TextBox 20"/>
          <p:cNvSpPr txBox="1"/>
          <p:nvPr/>
        </p:nvSpPr>
        <p:spPr>
          <a:xfrm>
            <a:off x="749808" y="3684016"/>
            <a:ext cx="4206240" cy="247015"/>
          </a:xfrm>
          <a:prstGeom prst="rect">
            <a:avLst/>
          </a:prstGeom>
          <a:noFill/>
        </p:spPr>
        <p:txBody>
          <a:bodyPr wrap="square" lIns="0" tIns="0" rIns="0" bIns="0" anchor="t">
            <a:spAutoFit/>
          </a:bodyPr>
          <a:lstStyle/>
          <a:p>
            <a:pPr algn="l">
              <a:lnSpc>
                <a:spcPct val="115000"/>
              </a:lnSpc>
            </a:pPr>
            <a:r>
              <a:rPr sz="1400" b="0">
                <a:solidFill>
                  <a:srgbClr val="3C3C3C"/>
                </a:solidFill>
                <a:latin typeface="Arial" panose="020B0604020202020204" pitchFamily="34" charset="0"/>
                <a:cs typeface="Arial" panose="020B0604020202020204" pitchFamily="34" charset="0"/>
              </a:rPr>
              <a:t>Vercel hosting</a:t>
            </a:r>
            <a:endParaRPr sz="1400" b="0">
              <a:solidFill>
                <a:srgbClr val="3C3C3C"/>
              </a:solidFill>
              <a:latin typeface="Arial" panose="020B0604020202020204" pitchFamily="34" charset="0"/>
              <a:cs typeface="Arial" panose="020B0604020202020204" pitchFamily="34" charset="0"/>
            </a:endParaRPr>
          </a:p>
        </p:txBody>
      </p:sp>
      <p:sp>
        <p:nvSpPr>
          <p:cNvPr id="22" name="TextBox 21"/>
          <p:cNvSpPr txBox="1"/>
          <p:nvPr/>
        </p:nvSpPr>
        <p:spPr>
          <a:xfrm>
            <a:off x="5047488" y="3684016"/>
            <a:ext cx="4206240" cy="2470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Serverless functions + bandwidth</a:t>
            </a:r>
            <a:endParaRPr sz="1400" b="0">
              <a:solidFill>
                <a:srgbClr val="6B6B6B"/>
              </a:solidFill>
              <a:latin typeface="Arial" panose="020B0604020202020204" pitchFamily="34" charset="0"/>
              <a:cs typeface="Arial" panose="020B0604020202020204" pitchFamily="34" charset="0"/>
            </a:endParaRPr>
          </a:p>
        </p:txBody>
      </p:sp>
      <p:sp>
        <p:nvSpPr>
          <p:cNvPr id="23" name="TextBox 22"/>
          <p:cNvSpPr txBox="1"/>
          <p:nvPr/>
        </p:nvSpPr>
        <p:spPr>
          <a:xfrm>
            <a:off x="9345168" y="3684016"/>
            <a:ext cx="2103120" cy="247015"/>
          </a:xfrm>
          <a:prstGeom prst="rect">
            <a:avLst/>
          </a:prstGeom>
          <a:noFill/>
        </p:spPr>
        <p:txBody>
          <a:bodyPr wrap="square" lIns="0" tIns="0" rIns="0" bIns="0" anchor="t">
            <a:spAutoFit/>
          </a:bodyPr>
          <a:lstStyle/>
          <a:p>
            <a:pPr algn="r">
              <a:lnSpc>
                <a:spcPct val="115000"/>
              </a:lnSpc>
            </a:pPr>
            <a:r>
              <a:rPr sz="1400" b="0">
                <a:solidFill>
                  <a:srgbClr val="3C3C3C"/>
                </a:solidFill>
                <a:latin typeface="Arial" panose="020B0604020202020204" pitchFamily="34" charset="0"/>
                <a:cs typeface="Arial" panose="020B0604020202020204" pitchFamily="34" charset="0"/>
              </a:rPr>
              <a:t>$20 (Pro plan)</a:t>
            </a:r>
            <a:endParaRPr sz="1400" b="0">
              <a:solidFill>
                <a:srgbClr val="3C3C3C"/>
              </a:solidFill>
              <a:latin typeface="Arial" panose="020B0604020202020204" pitchFamily="34" charset="0"/>
              <a:cs typeface="Arial" panose="020B0604020202020204" pitchFamily="34" charset="0"/>
            </a:endParaRPr>
          </a:p>
        </p:txBody>
      </p:sp>
      <p:sp>
        <p:nvSpPr>
          <p:cNvPr id="24" name="Rectangle 23"/>
          <p:cNvSpPr/>
          <p:nvPr/>
        </p:nvSpPr>
        <p:spPr>
          <a:xfrm>
            <a:off x="566928" y="4013200"/>
            <a:ext cx="11064240" cy="457200"/>
          </a:xfrm>
          <a:prstGeom prst="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25" name="TextBox 24"/>
          <p:cNvSpPr txBox="1"/>
          <p:nvPr/>
        </p:nvSpPr>
        <p:spPr>
          <a:xfrm>
            <a:off x="749808" y="4141216"/>
            <a:ext cx="4206240" cy="247015"/>
          </a:xfrm>
          <a:prstGeom prst="rect">
            <a:avLst/>
          </a:prstGeom>
          <a:noFill/>
        </p:spPr>
        <p:txBody>
          <a:bodyPr wrap="square" lIns="0" tIns="0" rIns="0" bIns="0" anchor="t">
            <a:spAutoFit/>
          </a:bodyPr>
          <a:lstStyle/>
          <a:p>
            <a:pPr algn="l">
              <a:lnSpc>
                <a:spcPct val="115000"/>
              </a:lnSpc>
            </a:pPr>
            <a:r>
              <a:rPr sz="1400" b="0">
                <a:solidFill>
                  <a:srgbClr val="3C3C3C"/>
                </a:solidFill>
                <a:latin typeface="Arial" panose="020B0604020202020204" pitchFamily="34" charset="0"/>
                <a:cs typeface="Arial" panose="020B0604020202020204" pitchFamily="34" charset="0"/>
              </a:rPr>
              <a:t>Storage / PDF cache</a:t>
            </a:r>
            <a:endParaRPr sz="1400" b="0">
              <a:solidFill>
                <a:srgbClr val="3C3C3C"/>
              </a:solidFill>
              <a:latin typeface="Arial" panose="020B0604020202020204" pitchFamily="34" charset="0"/>
              <a:cs typeface="Arial" panose="020B0604020202020204" pitchFamily="34" charset="0"/>
            </a:endParaRPr>
          </a:p>
        </p:txBody>
      </p:sp>
      <p:sp>
        <p:nvSpPr>
          <p:cNvPr id="26" name="TextBox 25"/>
          <p:cNvSpPr txBox="1"/>
          <p:nvPr/>
        </p:nvSpPr>
        <p:spPr>
          <a:xfrm>
            <a:off x="5047488" y="4141216"/>
            <a:ext cx="4206240" cy="2470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Object storage, optional</a:t>
            </a:r>
            <a:endParaRPr sz="1400" b="0">
              <a:solidFill>
                <a:srgbClr val="6B6B6B"/>
              </a:solidFill>
              <a:latin typeface="Arial" panose="020B0604020202020204" pitchFamily="34" charset="0"/>
              <a:cs typeface="Arial" panose="020B0604020202020204" pitchFamily="34" charset="0"/>
            </a:endParaRPr>
          </a:p>
        </p:txBody>
      </p:sp>
      <p:sp>
        <p:nvSpPr>
          <p:cNvPr id="27" name="TextBox 26"/>
          <p:cNvSpPr txBox="1"/>
          <p:nvPr/>
        </p:nvSpPr>
        <p:spPr>
          <a:xfrm>
            <a:off x="9345168" y="4141216"/>
            <a:ext cx="2103120" cy="247015"/>
          </a:xfrm>
          <a:prstGeom prst="rect">
            <a:avLst/>
          </a:prstGeom>
          <a:noFill/>
        </p:spPr>
        <p:txBody>
          <a:bodyPr wrap="square" lIns="0" tIns="0" rIns="0" bIns="0" anchor="t">
            <a:spAutoFit/>
          </a:bodyPr>
          <a:lstStyle/>
          <a:p>
            <a:pPr algn="r">
              <a:lnSpc>
                <a:spcPct val="115000"/>
              </a:lnSpc>
            </a:pPr>
            <a:r>
              <a:rPr sz="1400" b="0">
                <a:solidFill>
                  <a:srgbClr val="3C3C3C"/>
                </a:solidFill>
                <a:latin typeface="Arial" panose="020B0604020202020204" pitchFamily="34" charset="0"/>
                <a:cs typeface="Arial" panose="020B0604020202020204" pitchFamily="34" charset="0"/>
              </a:rPr>
              <a:t>≈ $5</a:t>
            </a:r>
            <a:endParaRPr sz="1400" b="0">
              <a:solidFill>
                <a:srgbClr val="3C3C3C"/>
              </a:solidFill>
              <a:latin typeface="Arial" panose="020B0604020202020204" pitchFamily="34" charset="0"/>
              <a:cs typeface="Arial" panose="020B0604020202020204" pitchFamily="34" charset="0"/>
            </a:endParaRPr>
          </a:p>
        </p:txBody>
      </p:sp>
      <p:sp>
        <p:nvSpPr>
          <p:cNvPr id="28" name="Rectangle 27"/>
          <p:cNvSpPr/>
          <p:nvPr/>
        </p:nvSpPr>
        <p:spPr>
          <a:xfrm>
            <a:off x="566928" y="4470400"/>
            <a:ext cx="11064240" cy="457200"/>
          </a:xfrm>
          <a:prstGeom prst="rect">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29" name="TextBox 28"/>
          <p:cNvSpPr txBox="1"/>
          <p:nvPr/>
        </p:nvSpPr>
        <p:spPr>
          <a:xfrm>
            <a:off x="749808" y="4598416"/>
            <a:ext cx="4206240" cy="247015"/>
          </a:xfrm>
          <a:prstGeom prst="rect">
            <a:avLst/>
          </a:prstGeom>
          <a:noFill/>
        </p:spPr>
        <p:txBody>
          <a:bodyPr wrap="square" lIns="0" tIns="0" rIns="0" bIns="0" anchor="t">
            <a:spAutoFit/>
          </a:bodyPr>
          <a:lstStyle/>
          <a:p>
            <a:pPr algn="l">
              <a:lnSpc>
                <a:spcPct val="115000"/>
              </a:lnSpc>
            </a:pPr>
            <a:r>
              <a:rPr sz="1400" b="0">
                <a:solidFill>
                  <a:srgbClr val="3C3C3C"/>
                </a:solidFill>
                <a:latin typeface="Arial" panose="020B0604020202020204" pitchFamily="34" charset="0"/>
                <a:cs typeface="Arial" panose="020B0604020202020204" pitchFamily="34" charset="0"/>
              </a:rPr>
              <a:t>Human review</a:t>
            </a:r>
            <a:endParaRPr sz="1400" b="0">
              <a:solidFill>
                <a:srgbClr val="3C3C3C"/>
              </a:solidFill>
              <a:latin typeface="Arial" panose="020B0604020202020204" pitchFamily="34" charset="0"/>
              <a:cs typeface="Arial" panose="020B0604020202020204" pitchFamily="34" charset="0"/>
            </a:endParaRPr>
          </a:p>
        </p:txBody>
      </p:sp>
      <p:sp>
        <p:nvSpPr>
          <p:cNvPr id="30" name="TextBox 29"/>
          <p:cNvSpPr txBox="1"/>
          <p:nvPr/>
        </p:nvSpPr>
        <p:spPr>
          <a:xfrm>
            <a:off x="5047488" y="4598416"/>
            <a:ext cx="4206240" cy="2470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8.6% of attributes × ~8 s each</a:t>
            </a:r>
            <a:endParaRPr sz="1400" b="0">
              <a:solidFill>
                <a:srgbClr val="6B6B6B"/>
              </a:solidFill>
              <a:latin typeface="Arial" panose="020B0604020202020204" pitchFamily="34" charset="0"/>
              <a:cs typeface="Arial" panose="020B0604020202020204" pitchFamily="34" charset="0"/>
            </a:endParaRPr>
          </a:p>
        </p:txBody>
      </p:sp>
      <p:sp>
        <p:nvSpPr>
          <p:cNvPr id="31" name="TextBox 30"/>
          <p:cNvSpPr txBox="1"/>
          <p:nvPr/>
        </p:nvSpPr>
        <p:spPr>
          <a:xfrm>
            <a:off x="9345168" y="4598416"/>
            <a:ext cx="2103120" cy="247015"/>
          </a:xfrm>
          <a:prstGeom prst="rect">
            <a:avLst/>
          </a:prstGeom>
          <a:noFill/>
        </p:spPr>
        <p:txBody>
          <a:bodyPr wrap="square" lIns="0" tIns="0" rIns="0" bIns="0" anchor="t">
            <a:spAutoFit/>
          </a:bodyPr>
          <a:lstStyle/>
          <a:p>
            <a:pPr algn="r">
              <a:lnSpc>
                <a:spcPct val="115000"/>
              </a:lnSpc>
            </a:pPr>
            <a:r>
              <a:rPr sz="1400" b="0">
                <a:solidFill>
                  <a:srgbClr val="3C3C3C"/>
                </a:solidFill>
                <a:latin typeface="Arial" panose="020B0604020202020204" pitchFamily="34" charset="0"/>
                <a:cs typeface="Arial" panose="020B0604020202020204" pitchFamily="34" charset="0"/>
              </a:rPr>
              <a:t>≈ 40 review-hours</a:t>
            </a:r>
            <a:endParaRPr sz="1400" b="0">
              <a:solidFill>
                <a:srgbClr val="3C3C3C"/>
              </a:solidFill>
              <a:latin typeface="Arial" panose="020B0604020202020204" pitchFamily="34" charset="0"/>
              <a:cs typeface="Arial" panose="020B0604020202020204" pitchFamily="34" charset="0"/>
            </a:endParaRPr>
          </a:p>
        </p:txBody>
      </p:sp>
      <p:sp>
        <p:nvSpPr>
          <p:cNvPr id="32" name="Rectangle 31"/>
          <p:cNvSpPr/>
          <p:nvPr/>
        </p:nvSpPr>
        <p:spPr>
          <a:xfrm>
            <a:off x="566928" y="4927600"/>
            <a:ext cx="11064240" cy="457200"/>
          </a:xfrm>
          <a:prstGeom prst="rect">
            <a:avLst/>
          </a:prstGeom>
          <a:solidFill>
            <a:srgbClr val="E8F1FC"/>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33" name="TextBox 32"/>
          <p:cNvSpPr txBox="1"/>
          <p:nvPr/>
        </p:nvSpPr>
        <p:spPr>
          <a:xfrm>
            <a:off x="749808" y="5055616"/>
            <a:ext cx="4206240" cy="247015"/>
          </a:xfrm>
          <a:prstGeom prst="rect">
            <a:avLst/>
          </a:prstGeom>
          <a:noFill/>
        </p:spPr>
        <p:txBody>
          <a:bodyPr wrap="square" lIns="0" tIns="0" rIns="0" bIns="0" anchor="t">
            <a:spAutoFit/>
          </a:bodyPr>
          <a:lstStyle/>
          <a:p>
            <a:pPr algn="l">
              <a:lnSpc>
                <a:spcPct val="115000"/>
              </a:lnSpc>
            </a:pPr>
            <a:r>
              <a:rPr sz="1400" b="1">
                <a:solidFill>
                  <a:srgbClr val="1A1A1A"/>
                </a:solidFill>
                <a:latin typeface="Arial" panose="020B0604020202020204" pitchFamily="34" charset="0"/>
                <a:cs typeface="Arial" panose="020B0604020202020204" pitchFamily="34" charset="0"/>
              </a:rPr>
              <a:t>Total infrastructure</a:t>
            </a:r>
            <a:endParaRPr sz="1400" b="1">
              <a:solidFill>
                <a:srgbClr val="1A1A1A"/>
              </a:solidFill>
              <a:latin typeface="Arial" panose="020B0604020202020204" pitchFamily="34" charset="0"/>
              <a:cs typeface="Arial" panose="020B0604020202020204" pitchFamily="34" charset="0"/>
            </a:endParaRPr>
          </a:p>
        </p:txBody>
      </p:sp>
      <p:sp>
        <p:nvSpPr>
          <p:cNvPr id="34" name="TextBox 33"/>
          <p:cNvSpPr txBox="1"/>
          <p:nvPr/>
        </p:nvSpPr>
        <p:spPr>
          <a:xfrm>
            <a:off x="5047488" y="5055616"/>
            <a:ext cx="4206240" cy="247015"/>
          </a:xfrm>
          <a:prstGeom prst="rect">
            <a:avLst/>
          </a:prstGeom>
          <a:noFill/>
        </p:spPr>
        <p:txBody>
          <a:bodyPr wrap="square" lIns="0" tIns="0" rIns="0" bIns="0" anchor="t">
            <a:spAutoFit/>
          </a:bodyPr>
          <a:lstStyle/>
          <a:p>
            <a:pPr algn="l">
              <a:lnSpc>
                <a:spcPct val="115000"/>
              </a:lnSpc>
            </a:pPr>
            <a:r>
              <a:rPr sz="1400" b="0">
                <a:solidFill>
                  <a:srgbClr val="6B6B6B"/>
                </a:solidFill>
                <a:latin typeface="Arial" panose="020B0604020202020204" pitchFamily="34" charset="0"/>
                <a:cs typeface="Arial" panose="020B0604020202020204" pitchFamily="34" charset="0"/>
              </a:rPr>
              <a:t>excluding review labour</a:t>
            </a:r>
            <a:endParaRPr sz="1400" b="0">
              <a:solidFill>
                <a:srgbClr val="6B6B6B"/>
              </a:solidFill>
              <a:latin typeface="Arial" panose="020B0604020202020204" pitchFamily="34" charset="0"/>
              <a:cs typeface="Arial" panose="020B0604020202020204" pitchFamily="34" charset="0"/>
            </a:endParaRPr>
          </a:p>
        </p:txBody>
      </p:sp>
      <p:sp>
        <p:nvSpPr>
          <p:cNvPr id="35" name="TextBox 34"/>
          <p:cNvSpPr txBox="1"/>
          <p:nvPr/>
        </p:nvSpPr>
        <p:spPr>
          <a:xfrm>
            <a:off x="9345168" y="5055616"/>
            <a:ext cx="2103120" cy="247015"/>
          </a:xfrm>
          <a:prstGeom prst="rect">
            <a:avLst/>
          </a:prstGeom>
          <a:noFill/>
        </p:spPr>
        <p:txBody>
          <a:bodyPr wrap="square" lIns="0" tIns="0" rIns="0" bIns="0" anchor="t">
            <a:spAutoFit/>
          </a:bodyPr>
          <a:lstStyle/>
          <a:p>
            <a:pPr algn="r">
              <a:lnSpc>
                <a:spcPct val="115000"/>
              </a:lnSpc>
            </a:pPr>
            <a:r>
              <a:rPr sz="1400" b="1">
                <a:solidFill>
                  <a:srgbClr val="1A1A1A"/>
                </a:solidFill>
                <a:latin typeface="Arial" panose="020B0604020202020204" pitchFamily="34" charset="0"/>
                <a:cs typeface="Arial" panose="020B0604020202020204" pitchFamily="34" charset="0"/>
              </a:rPr>
              <a:t>≈ $353 / month</a:t>
            </a:r>
            <a:endParaRPr sz="1400" b="1">
              <a:solidFill>
                <a:srgbClr val="1A1A1A"/>
              </a:solidFill>
              <a:latin typeface="Arial" panose="020B0604020202020204" pitchFamily="34" charset="0"/>
              <a:cs typeface="Arial" panose="020B0604020202020204" pitchFamily="34" charset="0"/>
            </a:endParaRPr>
          </a:p>
        </p:txBody>
      </p:sp>
      <p:sp>
        <p:nvSpPr>
          <p:cNvPr id="36" name="TextBox 35"/>
          <p:cNvSpPr txBox="1"/>
          <p:nvPr/>
        </p:nvSpPr>
        <p:spPr>
          <a:xfrm>
            <a:off x="566928" y="5669280"/>
            <a:ext cx="11057839" cy="807720"/>
          </a:xfrm>
          <a:prstGeom prst="rect">
            <a:avLst/>
          </a:prstGeom>
          <a:noFill/>
        </p:spPr>
        <p:txBody>
          <a:bodyPr wrap="square" lIns="0" tIns="0" rIns="0" bIns="0" anchor="t">
            <a:spAutoFit/>
          </a:bodyPr>
          <a:lstStyle/>
          <a:p>
            <a:pPr algn="l">
              <a:lnSpc>
                <a:spcPct val="125000"/>
              </a:lnSpc>
            </a:pPr>
            <a:r>
              <a:rPr sz="1400" b="0">
                <a:solidFill>
                  <a:srgbClr val="6B6B6B"/>
                </a:solidFill>
                <a:latin typeface="Arial" panose="020B0604020202020204" pitchFamily="34" charset="0"/>
                <a:cs typeface="Arial" panose="020B0604020202020204" pitchFamily="34" charset="0"/>
              </a:rPr>
              <a:t>Two-tier routing is what makes this affordable: the cheap model absorbs the high-volume decisions and the expensive model is reserved for extraction and critique. Running everything on the strong model would roughly triple the figure. Indicative rates</a:t>
            </a:r>
            <a:r>
              <a:rPr lang="en-US" sz="1400" b="0">
                <a:solidFill>
                  <a:srgbClr val="6B6B6B"/>
                </a:solidFill>
                <a:latin typeface="Arial" panose="020B0604020202020204" pitchFamily="34" charset="0"/>
                <a:cs typeface="Arial" panose="020B0604020202020204" pitchFamily="34" charset="0"/>
              </a:rPr>
              <a:t>,</a:t>
            </a:r>
            <a:r>
              <a:rPr sz="1400" b="0">
                <a:solidFill>
                  <a:srgbClr val="6B6B6B"/>
                </a:solidFill>
                <a:latin typeface="Arial" panose="020B0604020202020204" pitchFamily="34" charset="0"/>
                <a:cs typeface="Arial" panose="020B0604020202020204" pitchFamily="34" charset="0"/>
              </a:rPr>
              <a:t> confirm against current pricing.</a:t>
            </a:r>
            <a:endParaRPr sz="1400" b="0">
              <a:solidFill>
                <a:srgbClr val="6B6B6B"/>
              </a:solidFill>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9" name="Picture 8" descr="04-pipeline-trace.png"/>
          <p:cNvPicPr>
            <a:picLocks noChangeAspect="1"/>
          </p:cNvPicPr>
          <p:nvPr>
            <p:custDataLst>
              <p:tags r:id="rId2"/>
            </p:custDataLst>
          </p:nvPr>
        </p:nvPicPr>
        <p:blipFill>
          <a:blip r:embed="rId3"/>
          <a:srcRect t="4364" b="22909"/>
          <a:stretch>
            <a:fillRect/>
          </a:stretch>
        </p:blipFill>
        <p:spPr>
          <a:xfrm>
            <a:off x="567055" y="2144395"/>
            <a:ext cx="3575050" cy="1656715"/>
          </a:xfrm>
          <a:prstGeom prst="rect">
            <a:avLst/>
          </a:prstGeom>
          <a:ln w="9525">
            <a:solidFill>
              <a:srgbClr val="D8DEE6"/>
            </a:solidFill>
          </a:ln>
        </p:spPr>
      </p:pic>
      <p:sp>
        <p:nvSpPr>
          <p:cNvPr id="10" name="TextBox 9"/>
          <p:cNvSpPr txBox="1"/>
          <p:nvPr>
            <p:custDataLst>
              <p:tags r:id="rId4"/>
            </p:custDataLst>
          </p:nvPr>
        </p:nvSpPr>
        <p:spPr>
          <a:xfrm>
            <a:off x="566928" y="3867912"/>
            <a:ext cx="3575304" cy="201168"/>
          </a:xfrm>
          <a:prstGeom prst="rect">
            <a:avLst/>
          </a:prstGeom>
          <a:noFill/>
        </p:spPr>
        <p:txBody>
          <a:bodyPr wrap="square" lIns="0" tIns="0" rIns="0" bIns="0" anchor="t">
            <a:spAutoFit/>
          </a:bodyPr>
          <a:lstStyle/>
          <a:p>
            <a:pPr algn="l">
              <a:lnSpc>
                <a:spcPct val="115000"/>
              </a:lnSpc>
            </a:pPr>
            <a:r>
              <a:rPr sz="1050" b="1">
                <a:solidFill>
                  <a:srgbClr val="1A1A1A"/>
                </a:solidFill>
                <a:latin typeface="Calibri" panose="020F0502020204030204"/>
              </a:rPr>
              <a:t>Eight stages, streamed live</a:t>
            </a:r>
            <a:endParaRPr sz="1050" b="1">
              <a:solidFill>
                <a:srgbClr val="1A1A1A"/>
              </a:solidFill>
              <a:latin typeface="Calibri" panose="020F0502020204030204"/>
            </a:endParaRPr>
          </a:p>
        </p:txBody>
      </p:sp>
      <p:sp>
        <p:nvSpPr>
          <p:cNvPr id="11" name="TextBox 10"/>
          <p:cNvSpPr txBox="1"/>
          <p:nvPr>
            <p:custDataLst>
              <p:tags r:id="rId5"/>
            </p:custDataLst>
          </p:nvPr>
        </p:nvSpPr>
        <p:spPr>
          <a:xfrm>
            <a:off x="566928" y="4041648"/>
            <a:ext cx="3575304" cy="182880"/>
          </a:xfrm>
          <a:prstGeom prst="rect">
            <a:avLst/>
          </a:prstGeom>
          <a:noFill/>
        </p:spPr>
        <p:txBody>
          <a:bodyPr wrap="square" lIns="0" tIns="0" rIns="0" bIns="0" anchor="t">
            <a:spAutoFit/>
          </a:bodyPr>
          <a:lstStyle/>
          <a:p>
            <a:pPr algn="l">
              <a:lnSpc>
                <a:spcPct val="115000"/>
              </a:lnSpc>
            </a:pPr>
            <a:r>
              <a:rPr sz="850" b="0">
                <a:solidFill>
                  <a:srgbClr val="6B6B6B"/>
                </a:solidFill>
                <a:latin typeface="Calibri" panose="020F0502020204030204"/>
              </a:rPr>
              <a:t>the trace is the audit log</a:t>
            </a:r>
            <a:endParaRPr sz="850" b="0">
              <a:solidFill>
                <a:srgbClr val="6B6B6B"/>
              </a:solidFill>
              <a:latin typeface="Calibri" panose="020F0502020204030204"/>
            </a:endParaRPr>
          </a:p>
        </p:txBody>
      </p:sp>
      <p:sp>
        <p:nvSpPr>
          <p:cNvPr id="13" name="TextBox 12"/>
          <p:cNvSpPr txBox="1"/>
          <p:nvPr>
            <p:custDataLst>
              <p:tags r:id="rId6"/>
            </p:custDataLst>
          </p:nvPr>
        </p:nvSpPr>
        <p:spPr>
          <a:xfrm>
            <a:off x="4306824" y="3867912"/>
            <a:ext cx="3575304" cy="201168"/>
          </a:xfrm>
          <a:prstGeom prst="rect">
            <a:avLst/>
          </a:prstGeom>
          <a:noFill/>
        </p:spPr>
        <p:txBody>
          <a:bodyPr wrap="square" lIns="0" tIns="0" rIns="0" bIns="0" anchor="t">
            <a:spAutoFit/>
          </a:bodyPr>
          <a:lstStyle/>
          <a:p>
            <a:pPr algn="l">
              <a:lnSpc>
                <a:spcPct val="115000"/>
              </a:lnSpc>
            </a:pPr>
            <a:r>
              <a:rPr sz="1050" b="1">
                <a:solidFill>
                  <a:srgbClr val="1A1A1A"/>
                </a:solidFill>
                <a:latin typeface="Calibri" panose="020F0502020204030204"/>
              </a:rPr>
              <a:t>Click a value, see the evidence</a:t>
            </a:r>
            <a:endParaRPr sz="1050" b="1">
              <a:solidFill>
                <a:srgbClr val="1A1A1A"/>
              </a:solidFill>
              <a:latin typeface="Calibri" panose="020F0502020204030204"/>
            </a:endParaRPr>
          </a:p>
        </p:txBody>
      </p:sp>
      <p:sp>
        <p:nvSpPr>
          <p:cNvPr id="14" name="TextBox 13"/>
          <p:cNvSpPr txBox="1"/>
          <p:nvPr>
            <p:custDataLst>
              <p:tags r:id="rId7"/>
            </p:custDataLst>
          </p:nvPr>
        </p:nvSpPr>
        <p:spPr>
          <a:xfrm>
            <a:off x="4306824" y="4041648"/>
            <a:ext cx="3575304" cy="182880"/>
          </a:xfrm>
          <a:prstGeom prst="rect">
            <a:avLst/>
          </a:prstGeom>
          <a:noFill/>
        </p:spPr>
        <p:txBody>
          <a:bodyPr wrap="square" lIns="0" tIns="0" rIns="0" bIns="0" anchor="t">
            <a:spAutoFit/>
          </a:bodyPr>
          <a:lstStyle/>
          <a:p>
            <a:pPr algn="l">
              <a:lnSpc>
                <a:spcPct val="115000"/>
              </a:lnSpc>
            </a:pPr>
            <a:r>
              <a:rPr sz="850" b="0">
                <a:solidFill>
                  <a:srgbClr val="6B6B6B"/>
                </a:solidFill>
                <a:latin typeface="Calibri" panose="020F0502020204030204"/>
              </a:rPr>
              <a:t>2000 psi kept · 1000 and 600 dropped</a:t>
            </a:r>
            <a:endParaRPr sz="850" b="0">
              <a:solidFill>
                <a:srgbClr val="6B6B6B"/>
              </a:solidFill>
              <a:latin typeface="Calibri" panose="020F0502020204030204"/>
            </a:endParaRPr>
          </a:p>
        </p:txBody>
      </p:sp>
      <p:pic>
        <p:nvPicPr>
          <p:cNvPr id="15" name="Picture 14" descr="05-attribute-record.png"/>
          <p:cNvPicPr>
            <a:picLocks noChangeAspect="1"/>
          </p:cNvPicPr>
          <p:nvPr>
            <p:custDataLst>
              <p:tags r:id="rId8"/>
            </p:custDataLst>
          </p:nvPr>
        </p:nvPicPr>
        <p:blipFill>
          <a:blip r:embed="rId9"/>
          <a:srcRect t="4364" b="22909"/>
          <a:stretch>
            <a:fillRect/>
          </a:stretch>
        </p:blipFill>
        <p:spPr>
          <a:xfrm>
            <a:off x="8046720" y="2138680"/>
            <a:ext cx="3575050" cy="1662430"/>
          </a:xfrm>
          <a:prstGeom prst="rect">
            <a:avLst/>
          </a:prstGeom>
          <a:ln w="9525">
            <a:solidFill>
              <a:srgbClr val="D8DEE6"/>
            </a:solidFill>
          </a:ln>
        </p:spPr>
      </p:pic>
      <p:sp>
        <p:nvSpPr>
          <p:cNvPr id="16" name="TextBox 15"/>
          <p:cNvSpPr txBox="1"/>
          <p:nvPr>
            <p:custDataLst>
              <p:tags r:id="rId10"/>
            </p:custDataLst>
          </p:nvPr>
        </p:nvSpPr>
        <p:spPr>
          <a:xfrm>
            <a:off x="8046720" y="3867912"/>
            <a:ext cx="3575304" cy="201168"/>
          </a:xfrm>
          <a:prstGeom prst="rect">
            <a:avLst/>
          </a:prstGeom>
          <a:noFill/>
        </p:spPr>
        <p:txBody>
          <a:bodyPr wrap="square" lIns="0" tIns="0" rIns="0" bIns="0" anchor="t">
            <a:spAutoFit/>
          </a:bodyPr>
          <a:lstStyle/>
          <a:p>
            <a:pPr algn="l">
              <a:lnSpc>
                <a:spcPct val="115000"/>
              </a:lnSpc>
            </a:pPr>
            <a:r>
              <a:rPr sz="1050" b="1">
                <a:solidFill>
                  <a:srgbClr val="1A1A1A"/>
                </a:solidFill>
                <a:latin typeface="Calibri" panose="020F0502020204030204"/>
              </a:rPr>
              <a:t>The attribute record</a:t>
            </a:r>
            <a:endParaRPr sz="1050" b="1">
              <a:solidFill>
                <a:srgbClr val="1A1A1A"/>
              </a:solidFill>
              <a:latin typeface="Calibri" panose="020F0502020204030204"/>
            </a:endParaRPr>
          </a:p>
        </p:txBody>
      </p:sp>
      <p:sp>
        <p:nvSpPr>
          <p:cNvPr id="17" name="TextBox 16"/>
          <p:cNvSpPr txBox="1"/>
          <p:nvPr>
            <p:custDataLst>
              <p:tags r:id="rId11"/>
            </p:custDataLst>
          </p:nvPr>
        </p:nvSpPr>
        <p:spPr>
          <a:xfrm>
            <a:off x="8046720" y="4041648"/>
            <a:ext cx="3575304" cy="182880"/>
          </a:xfrm>
          <a:prstGeom prst="rect">
            <a:avLst/>
          </a:prstGeom>
          <a:noFill/>
        </p:spPr>
        <p:txBody>
          <a:bodyPr wrap="square" lIns="0" tIns="0" rIns="0" bIns="0" anchor="t">
            <a:spAutoFit/>
          </a:bodyPr>
          <a:lstStyle/>
          <a:p>
            <a:pPr algn="l">
              <a:lnSpc>
                <a:spcPct val="115000"/>
              </a:lnSpc>
            </a:pPr>
            <a:r>
              <a:rPr sz="850" b="0">
                <a:solidFill>
                  <a:srgbClr val="6B6B6B"/>
                </a:solidFill>
                <a:latin typeface="Calibri" panose="020F0502020204030204"/>
              </a:rPr>
              <a:t>22 attributes, each gated on confidence</a:t>
            </a:r>
            <a:endParaRPr sz="850" b="0">
              <a:solidFill>
                <a:srgbClr val="6B6B6B"/>
              </a:solidFill>
              <a:latin typeface="Calibri" panose="020F0502020204030204"/>
            </a:endParaRPr>
          </a:p>
        </p:txBody>
      </p:sp>
      <p:pic>
        <p:nvPicPr>
          <p:cNvPr id="18" name="Picture 17" descr="09-comparison.png"/>
          <p:cNvPicPr>
            <a:picLocks noChangeAspect="1"/>
          </p:cNvPicPr>
          <p:nvPr>
            <p:custDataLst>
              <p:tags r:id="rId12"/>
            </p:custDataLst>
          </p:nvPr>
        </p:nvPicPr>
        <p:blipFill>
          <a:blip r:embed="rId13"/>
          <a:srcRect t="4364" b="22909"/>
          <a:stretch>
            <a:fillRect/>
          </a:stretch>
        </p:blipFill>
        <p:spPr>
          <a:xfrm>
            <a:off x="567055" y="4257675"/>
            <a:ext cx="3575050" cy="1664970"/>
          </a:xfrm>
          <a:prstGeom prst="rect">
            <a:avLst/>
          </a:prstGeom>
          <a:ln w="9525">
            <a:solidFill>
              <a:srgbClr val="D8DEE6"/>
            </a:solidFill>
          </a:ln>
        </p:spPr>
      </p:pic>
      <p:sp>
        <p:nvSpPr>
          <p:cNvPr id="19" name="TextBox 18"/>
          <p:cNvSpPr txBox="1"/>
          <p:nvPr>
            <p:custDataLst>
              <p:tags r:id="rId14"/>
            </p:custDataLst>
          </p:nvPr>
        </p:nvSpPr>
        <p:spPr>
          <a:xfrm>
            <a:off x="566928" y="5989320"/>
            <a:ext cx="3575304" cy="201168"/>
          </a:xfrm>
          <a:prstGeom prst="rect">
            <a:avLst/>
          </a:prstGeom>
          <a:noFill/>
        </p:spPr>
        <p:txBody>
          <a:bodyPr wrap="square" lIns="0" tIns="0" rIns="0" bIns="0" anchor="t">
            <a:spAutoFit/>
          </a:bodyPr>
          <a:lstStyle/>
          <a:p>
            <a:pPr algn="l">
              <a:lnSpc>
                <a:spcPct val="115000"/>
              </a:lnSpc>
            </a:pPr>
            <a:r>
              <a:rPr sz="1050" b="1">
                <a:solidFill>
                  <a:srgbClr val="1A1A1A"/>
                </a:solidFill>
                <a:latin typeface="Calibri" panose="020F0502020204030204"/>
              </a:rPr>
              <a:t>Comparison copilot</a:t>
            </a:r>
            <a:endParaRPr sz="1050" b="1">
              <a:solidFill>
                <a:srgbClr val="1A1A1A"/>
              </a:solidFill>
              <a:latin typeface="Calibri" panose="020F0502020204030204"/>
            </a:endParaRPr>
          </a:p>
        </p:txBody>
      </p:sp>
      <p:sp>
        <p:nvSpPr>
          <p:cNvPr id="20" name="TextBox 19"/>
          <p:cNvSpPr txBox="1"/>
          <p:nvPr>
            <p:custDataLst>
              <p:tags r:id="rId15"/>
            </p:custDataLst>
          </p:nvPr>
        </p:nvSpPr>
        <p:spPr>
          <a:xfrm>
            <a:off x="566928" y="6163056"/>
            <a:ext cx="3575304" cy="182880"/>
          </a:xfrm>
          <a:prstGeom prst="rect">
            <a:avLst/>
          </a:prstGeom>
          <a:noFill/>
        </p:spPr>
        <p:txBody>
          <a:bodyPr wrap="square" lIns="0" tIns="0" rIns="0" bIns="0" anchor="t">
            <a:spAutoFit/>
          </a:bodyPr>
          <a:lstStyle/>
          <a:p>
            <a:pPr algn="l">
              <a:lnSpc>
                <a:spcPct val="115000"/>
              </a:lnSpc>
            </a:pPr>
            <a:r>
              <a:rPr sz="850" b="0">
                <a:solidFill>
                  <a:srgbClr val="6B6B6B"/>
                </a:solidFill>
                <a:latin typeface="Calibri" panose="020F0502020204030204"/>
              </a:rPr>
              <a:t>plain language in, a justified pick out</a:t>
            </a:r>
            <a:endParaRPr sz="850" b="0">
              <a:solidFill>
                <a:srgbClr val="6B6B6B"/>
              </a:solidFill>
              <a:latin typeface="Calibri" panose="020F0502020204030204"/>
            </a:endParaRPr>
          </a:p>
        </p:txBody>
      </p:sp>
      <p:pic>
        <p:nvPicPr>
          <p:cNvPr id="21" name="Picture 20" descr="10-knowledge-graph.png"/>
          <p:cNvPicPr>
            <a:picLocks noChangeAspect="1"/>
          </p:cNvPicPr>
          <p:nvPr>
            <p:custDataLst>
              <p:tags r:id="rId16"/>
            </p:custDataLst>
          </p:nvPr>
        </p:nvPicPr>
        <p:blipFill>
          <a:blip r:embed="rId17"/>
          <a:srcRect t="4364" b="22909"/>
          <a:stretch>
            <a:fillRect/>
          </a:stretch>
        </p:blipFill>
        <p:spPr>
          <a:xfrm>
            <a:off x="4306824" y="4297680"/>
            <a:ext cx="3575304" cy="1625138"/>
          </a:xfrm>
          <a:prstGeom prst="rect">
            <a:avLst/>
          </a:prstGeom>
          <a:ln w="9525">
            <a:solidFill>
              <a:srgbClr val="D8DEE6"/>
            </a:solidFill>
          </a:ln>
        </p:spPr>
      </p:pic>
      <p:sp>
        <p:nvSpPr>
          <p:cNvPr id="22" name="TextBox 21"/>
          <p:cNvSpPr txBox="1"/>
          <p:nvPr>
            <p:custDataLst>
              <p:tags r:id="rId18"/>
            </p:custDataLst>
          </p:nvPr>
        </p:nvSpPr>
        <p:spPr>
          <a:xfrm>
            <a:off x="4306824" y="5989320"/>
            <a:ext cx="3575304" cy="201168"/>
          </a:xfrm>
          <a:prstGeom prst="rect">
            <a:avLst/>
          </a:prstGeom>
          <a:noFill/>
        </p:spPr>
        <p:txBody>
          <a:bodyPr wrap="square" lIns="0" tIns="0" rIns="0" bIns="0" anchor="t">
            <a:spAutoFit/>
          </a:bodyPr>
          <a:lstStyle/>
          <a:p>
            <a:pPr algn="l">
              <a:lnSpc>
                <a:spcPct val="115000"/>
              </a:lnSpc>
            </a:pPr>
            <a:r>
              <a:rPr sz="1050" b="1">
                <a:solidFill>
                  <a:srgbClr val="1A1A1A"/>
                </a:solidFill>
                <a:latin typeface="Calibri" panose="020F0502020204030204"/>
              </a:rPr>
              <a:t>Product knowledge graph</a:t>
            </a:r>
            <a:endParaRPr sz="1050" b="1">
              <a:solidFill>
                <a:srgbClr val="1A1A1A"/>
              </a:solidFill>
              <a:latin typeface="Calibri" panose="020F0502020204030204"/>
            </a:endParaRPr>
          </a:p>
        </p:txBody>
      </p:sp>
      <p:sp>
        <p:nvSpPr>
          <p:cNvPr id="23" name="TextBox 22"/>
          <p:cNvSpPr txBox="1"/>
          <p:nvPr>
            <p:custDataLst>
              <p:tags r:id="rId19"/>
            </p:custDataLst>
          </p:nvPr>
        </p:nvSpPr>
        <p:spPr>
          <a:xfrm>
            <a:off x="4306824" y="6163056"/>
            <a:ext cx="3575304" cy="182880"/>
          </a:xfrm>
          <a:prstGeom prst="rect">
            <a:avLst/>
          </a:prstGeom>
          <a:noFill/>
        </p:spPr>
        <p:txBody>
          <a:bodyPr wrap="square" lIns="0" tIns="0" rIns="0" bIns="0" anchor="t">
            <a:spAutoFit/>
          </a:bodyPr>
          <a:lstStyle/>
          <a:p>
            <a:pPr algn="l">
              <a:lnSpc>
                <a:spcPct val="115000"/>
              </a:lnSpc>
            </a:pPr>
            <a:r>
              <a:rPr sz="850" b="0">
                <a:solidFill>
                  <a:srgbClr val="6B6B6B"/>
                </a:solidFill>
                <a:latin typeface="Calibri" panose="020F0502020204030204"/>
              </a:rPr>
              <a:t>90 entities · 220 relationships</a:t>
            </a:r>
            <a:endParaRPr sz="850" b="0">
              <a:solidFill>
                <a:srgbClr val="6B6B6B"/>
              </a:solidFill>
              <a:latin typeface="Calibri" panose="020F0502020204030204"/>
            </a:endParaRPr>
          </a:p>
        </p:txBody>
      </p:sp>
      <p:pic>
        <p:nvPicPr>
          <p:cNvPr id="24" name="Picture 23" descr="08-search-impact.png"/>
          <p:cNvPicPr>
            <a:picLocks noChangeAspect="1"/>
          </p:cNvPicPr>
          <p:nvPr>
            <p:custDataLst>
              <p:tags r:id="rId20"/>
            </p:custDataLst>
          </p:nvPr>
        </p:nvPicPr>
        <p:blipFill>
          <a:blip r:embed="rId21"/>
          <a:srcRect t="4364" b="22909"/>
          <a:stretch>
            <a:fillRect/>
          </a:stretch>
        </p:blipFill>
        <p:spPr>
          <a:xfrm>
            <a:off x="8046720" y="4297680"/>
            <a:ext cx="3575304" cy="1625138"/>
          </a:xfrm>
          <a:prstGeom prst="rect">
            <a:avLst/>
          </a:prstGeom>
          <a:ln w="9525">
            <a:solidFill>
              <a:srgbClr val="D8DEE6"/>
            </a:solidFill>
          </a:ln>
        </p:spPr>
      </p:pic>
      <p:sp>
        <p:nvSpPr>
          <p:cNvPr id="25" name="TextBox 24"/>
          <p:cNvSpPr txBox="1"/>
          <p:nvPr>
            <p:custDataLst>
              <p:tags r:id="rId22"/>
            </p:custDataLst>
          </p:nvPr>
        </p:nvSpPr>
        <p:spPr>
          <a:xfrm>
            <a:off x="8046720" y="5989320"/>
            <a:ext cx="3575304" cy="201168"/>
          </a:xfrm>
          <a:prstGeom prst="rect">
            <a:avLst/>
          </a:prstGeom>
          <a:noFill/>
        </p:spPr>
        <p:txBody>
          <a:bodyPr wrap="square" lIns="0" tIns="0" rIns="0" bIns="0" anchor="t">
            <a:spAutoFit/>
          </a:bodyPr>
          <a:lstStyle/>
          <a:p>
            <a:pPr algn="l">
              <a:lnSpc>
                <a:spcPct val="115000"/>
              </a:lnSpc>
            </a:pPr>
            <a:r>
              <a:rPr sz="1050" b="1">
                <a:solidFill>
                  <a:srgbClr val="1A1A1A"/>
                </a:solidFill>
                <a:latin typeface="Calibri" panose="020F0502020204030204"/>
              </a:rPr>
              <a:t>Commerce impact</a:t>
            </a:r>
            <a:endParaRPr sz="1050" b="1">
              <a:solidFill>
                <a:srgbClr val="1A1A1A"/>
              </a:solidFill>
              <a:latin typeface="Calibri" panose="020F0502020204030204"/>
            </a:endParaRPr>
          </a:p>
        </p:txBody>
      </p:sp>
      <p:sp>
        <p:nvSpPr>
          <p:cNvPr id="26" name="TextBox 25"/>
          <p:cNvSpPr txBox="1"/>
          <p:nvPr>
            <p:custDataLst>
              <p:tags r:id="rId23"/>
            </p:custDataLst>
          </p:nvPr>
        </p:nvSpPr>
        <p:spPr>
          <a:xfrm>
            <a:off x="8046720" y="6163056"/>
            <a:ext cx="3575304" cy="182880"/>
          </a:xfrm>
          <a:prstGeom prst="rect">
            <a:avLst/>
          </a:prstGeom>
          <a:noFill/>
        </p:spPr>
        <p:txBody>
          <a:bodyPr wrap="square" lIns="0" tIns="0" rIns="0" bIns="0" anchor="t">
            <a:spAutoFit/>
          </a:bodyPr>
          <a:lstStyle/>
          <a:p>
            <a:pPr algn="l">
              <a:lnSpc>
                <a:spcPct val="115000"/>
              </a:lnSpc>
            </a:pPr>
            <a:r>
              <a:rPr sz="850" b="0">
                <a:solidFill>
                  <a:srgbClr val="6B6B6B"/>
                </a:solidFill>
                <a:latin typeface="Calibri" panose="020F0502020204030204"/>
              </a:rPr>
              <a:t>raw supplier rows versus enriched records</a:t>
            </a:r>
            <a:endParaRPr sz="850" b="0">
              <a:solidFill>
                <a:srgbClr val="6B6B6B"/>
              </a:solidFill>
              <a:latin typeface="Calibri" panose="020F0502020204030204"/>
            </a:endParaRPr>
          </a:p>
        </p:txBody>
      </p:sp>
      <p:pic>
        <p:nvPicPr>
          <p:cNvPr id="27" name="Picture 26"/>
          <p:cNvPicPr>
            <a:picLocks noChangeAspect="1"/>
          </p:cNvPicPr>
          <p:nvPr/>
        </p:nvPicPr>
        <p:blipFill>
          <a:blip r:embed="rId24"/>
          <a:stretch>
            <a:fillRect/>
          </a:stretch>
        </p:blipFill>
        <p:spPr>
          <a:xfrm>
            <a:off x="4306570" y="2145030"/>
            <a:ext cx="3552825" cy="1724025"/>
          </a:xfrm>
          <a:prstGeom prst="rect">
            <a:avLst/>
          </a:prstGeom>
        </p:spPr>
      </p:pic>
      <p:sp>
        <p:nvSpPr>
          <p:cNvPr id="28" name="TextBox 6"/>
          <p:cNvSpPr txBox="1"/>
          <p:nvPr/>
        </p:nvSpPr>
        <p:spPr>
          <a:xfrm>
            <a:off x="566928" y="1290193"/>
            <a:ext cx="11057839" cy="424180"/>
          </a:xfrm>
          <a:prstGeom prst="rect">
            <a:avLst/>
          </a:prstGeom>
          <a:noFill/>
        </p:spPr>
        <p:txBody>
          <a:bodyPr wrap="square" lIns="0" tIns="0" rIns="0" bIns="0" anchor="t">
            <a:spAutoFit/>
          </a:bodyPr>
          <a:lstStyle/>
          <a:p>
            <a:pPr algn="l">
              <a:lnSpc>
                <a:spcPct val="115000"/>
              </a:lnSpc>
            </a:pPr>
            <a:r>
              <a:rPr lang="en-US" sz="2400" b="0">
                <a:solidFill>
                  <a:srgbClr val="1A1A1A"/>
                </a:solidFill>
                <a:latin typeface="Arial" panose="020B0604020202020204" pitchFamily="34" charset="0"/>
                <a:cs typeface="Arial" panose="020B0604020202020204" pitchFamily="34" charset="0"/>
              </a:rPr>
              <a:t>Snapshots of the MVP</a:t>
            </a:r>
            <a:endParaRPr lang="en-US" sz="2400" b="0">
              <a:solidFill>
                <a:srgbClr val="1A1A1A"/>
              </a:solidFill>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7" name="TextBox 6"/>
          <p:cNvSpPr txBox="1"/>
          <p:nvPr/>
        </p:nvSpPr>
        <p:spPr>
          <a:xfrm>
            <a:off x="566928" y="1298448"/>
            <a:ext cx="11057839" cy="424180"/>
          </a:xfrm>
          <a:prstGeom prst="rect">
            <a:avLst/>
          </a:prstGeom>
          <a:noFill/>
        </p:spPr>
        <p:txBody>
          <a:bodyPr wrap="square" lIns="0" tIns="0" rIns="0" bIns="0" anchor="t">
            <a:spAutoFit/>
          </a:bodyPr>
          <a:lstStyle/>
          <a:p>
            <a:pPr algn="l">
              <a:lnSpc>
                <a:spcPct val="115000"/>
              </a:lnSpc>
            </a:pPr>
            <a:r>
              <a:rPr sz="2400" b="0">
                <a:solidFill>
                  <a:srgbClr val="1A1A1A"/>
                </a:solidFill>
                <a:latin typeface="Arial" panose="020B0604020202020204" pitchFamily="34" charset="0"/>
                <a:cs typeface="Arial" panose="020B0604020202020204" pitchFamily="34" charset="0"/>
              </a:rPr>
              <a:t>Additional Details / Future Development</a:t>
            </a:r>
            <a:endParaRPr sz="2400" b="0">
              <a:solidFill>
                <a:srgbClr val="1A1A1A"/>
              </a:solidFill>
              <a:latin typeface="Arial" panose="020B0604020202020204" pitchFamily="34" charset="0"/>
              <a:cs typeface="Arial" panose="020B0604020202020204" pitchFamily="34" charset="0"/>
            </a:endParaRPr>
          </a:p>
        </p:txBody>
      </p:sp>
      <p:sp>
        <p:nvSpPr>
          <p:cNvPr id="8" name="TextBox 7"/>
          <p:cNvSpPr txBox="1"/>
          <p:nvPr/>
        </p:nvSpPr>
        <p:spPr>
          <a:xfrm>
            <a:off x="566928" y="2194560"/>
            <a:ext cx="11057839" cy="3084195"/>
          </a:xfrm>
          <a:prstGeom prst="rect">
            <a:avLst/>
          </a:prstGeom>
          <a:noFill/>
        </p:spPr>
        <p:txBody>
          <a:bodyPr wrap="square" lIns="0" tIns="0" rIns="0" bIns="0">
            <a:spAutoFit/>
          </a:bodyPr>
          <a:lstStyle/>
          <a:p>
            <a:pPr>
              <a:lnSpc>
                <a:spcPct val="128000"/>
              </a:lnSpc>
              <a:spcAft>
                <a:spcPts val="15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OCR for scanned datasheets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today a PDF needs a text layer; adding OCR opens the archive of older catalogs.</a:t>
            </a:r>
            <a:endParaRPr sz="1400">
              <a:solidFill>
                <a:srgbClr val="3C3C3C"/>
              </a:solidFill>
              <a:latin typeface="Arial" panose="020B0604020202020204" pitchFamily="34" charset="0"/>
              <a:cs typeface="Arial" panose="020B0604020202020204" pitchFamily="34" charset="0"/>
            </a:endParaRPr>
          </a:p>
          <a:p>
            <a:pPr>
              <a:lnSpc>
                <a:spcPct val="128000"/>
              </a:lnSpc>
              <a:spcAft>
                <a:spcPts val="15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Vision extraction from nameplates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the source type already exists in the model; reading a stamped plate is next.</a:t>
            </a:r>
            <a:endParaRPr sz="1400">
              <a:solidFill>
                <a:srgbClr val="3C3C3C"/>
              </a:solidFill>
              <a:latin typeface="Arial" panose="020B0604020202020204" pitchFamily="34" charset="0"/>
              <a:cs typeface="Arial" panose="020B0604020202020204" pitchFamily="34" charset="0"/>
            </a:endParaRPr>
          </a:p>
          <a:p>
            <a:pPr>
              <a:lnSpc>
                <a:spcPct val="128000"/>
              </a:lnSpc>
              <a:spcAft>
                <a:spcPts val="15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Learned source authority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authority is a fixed table now; it should be learned from how often a source is refuted.</a:t>
            </a:r>
            <a:endParaRPr sz="1400">
              <a:solidFill>
                <a:srgbClr val="3C3C3C"/>
              </a:solidFill>
              <a:latin typeface="Arial" panose="020B0604020202020204" pitchFamily="34" charset="0"/>
              <a:cs typeface="Arial" panose="020B0604020202020204" pitchFamily="34" charset="0"/>
            </a:endParaRPr>
          </a:p>
          <a:p>
            <a:pPr>
              <a:lnSpc>
                <a:spcPct val="128000"/>
              </a:lnSpc>
              <a:spcAft>
                <a:spcPts val="15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Reviewer feedback loop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every accept/reject in the review queue is training signal for the critic and the gate.</a:t>
            </a:r>
            <a:endParaRPr sz="1400">
              <a:solidFill>
                <a:srgbClr val="3C3C3C"/>
              </a:solidFill>
              <a:latin typeface="Arial" panose="020B0604020202020204" pitchFamily="34" charset="0"/>
              <a:cs typeface="Arial" panose="020B0604020202020204" pitchFamily="34" charset="0"/>
            </a:endParaRPr>
          </a:p>
          <a:p>
            <a:pPr>
              <a:lnSpc>
                <a:spcPct val="128000"/>
              </a:lnSpc>
              <a:spcAft>
                <a:spcPts val="15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ERP / PIM connectors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write published records straight into CIMM2, SAP or Akeneo instead of exporting.</a:t>
            </a:r>
            <a:endParaRPr sz="1400">
              <a:solidFill>
                <a:srgbClr val="3C3C3C"/>
              </a:solidFill>
              <a:latin typeface="Arial" panose="020B0604020202020204" pitchFamily="34" charset="0"/>
              <a:cs typeface="Arial" panose="020B0604020202020204" pitchFamily="34" charset="0"/>
            </a:endParaRPr>
          </a:p>
          <a:p>
            <a:pPr>
              <a:lnSpc>
                <a:spcPct val="128000"/>
              </a:lnSpc>
              <a:spcAft>
                <a:spcPts val="15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Supersession and lifecycle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the graph already models replacement; wiring in obsolescence feeds makes it actionable.</a:t>
            </a:r>
            <a:endParaRPr sz="1400">
              <a:solidFill>
                <a:srgbClr val="3C3C3C"/>
              </a:solidFill>
              <a:latin typeface="Arial" panose="020B0604020202020204" pitchFamily="34" charset="0"/>
              <a:cs typeface="Arial" panose="020B0604020202020204" pitchFamily="34" charset="0"/>
            </a:endParaRPr>
          </a:p>
          <a:p>
            <a:pPr>
              <a:lnSpc>
                <a:spcPct val="128000"/>
              </a:lnSpc>
              <a:spcAft>
                <a:spcPts val="1500"/>
              </a:spcAft>
            </a:pPr>
            <a:r>
              <a:rPr sz="1400">
                <a:solidFill>
                  <a:srgbClr val="1E88E5"/>
                </a:solidFill>
                <a:latin typeface="Arial" panose="020B0604020202020204" pitchFamily="34" charset="0"/>
                <a:cs typeface="Arial" panose="020B0604020202020204" pitchFamily="34" charset="0"/>
              </a:rPr>
              <a:t>▸  </a:t>
            </a:r>
            <a:r>
              <a:rPr sz="1400" b="1">
                <a:solidFill>
                  <a:srgbClr val="1A1A1A"/>
                </a:solidFill>
                <a:latin typeface="Arial" panose="020B0604020202020204" pitchFamily="34" charset="0"/>
                <a:cs typeface="Arial" panose="020B0604020202020204" pitchFamily="34" charset="0"/>
              </a:rPr>
              <a:t>Bulk pipeline at catalog scale </a:t>
            </a:r>
            <a:r>
              <a:rPr lang="en-US" sz="1400" b="1">
                <a:solidFill>
                  <a:srgbClr val="1A1A1A"/>
                </a:solidFill>
                <a:latin typeface="Arial" panose="020B0604020202020204" pitchFamily="34" charset="0"/>
                <a:cs typeface="Arial" panose="020B0604020202020204" pitchFamily="34" charset="0"/>
              </a:rPr>
              <a:t>:</a:t>
            </a:r>
            <a:r>
              <a:rPr sz="1400" b="1">
                <a:solidFill>
                  <a:srgbClr val="1A1A1A"/>
                </a:solidFill>
                <a:latin typeface="Arial" panose="020B0604020202020204" pitchFamily="34" charset="0"/>
                <a:cs typeface="Arial" panose="020B0604020202020204" pitchFamily="34" charset="0"/>
              </a:rPr>
              <a:t> </a:t>
            </a:r>
            <a:r>
              <a:rPr sz="1400">
                <a:solidFill>
                  <a:srgbClr val="3C3C3C"/>
                </a:solidFill>
                <a:latin typeface="Arial" panose="020B0604020202020204" pitchFamily="34" charset="0"/>
                <a:cs typeface="Arial" panose="020B0604020202020204" pitchFamily="34" charset="0"/>
              </a:rPr>
              <a:t>queue-backed workers with per-tenant rate limits for millions of SKUs.</a:t>
            </a:r>
            <a:endParaRPr sz="1400">
              <a:solidFill>
                <a:srgbClr val="3C3C3C"/>
              </a:solidFill>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8" name="TextBox 7"/>
          <p:cNvSpPr txBox="1"/>
          <p:nvPr/>
        </p:nvSpPr>
        <p:spPr>
          <a:xfrm>
            <a:off x="932688" y="2377440"/>
            <a:ext cx="365760" cy="247015"/>
          </a:xfrm>
          <a:prstGeom prst="rect">
            <a:avLst/>
          </a:prstGeom>
          <a:noFill/>
        </p:spPr>
        <p:txBody>
          <a:bodyPr wrap="square" lIns="0" tIns="0" rIns="0" bIns="0" anchor="t">
            <a:spAutoFit/>
          </a:bodyPr>
          <a:lstStyle/>
          <a:p>
            <a:pPr algn="l">
              <a:lnSpc>
                <a:spcPct val="115000"/>
              </a:lnSpc>
            </a:pPr>
            <a:r>
              <a:rPr sz="1400" b="0">
                <a:solidFill>
                  <a:srgbClr val="1A1A1A"/>
                </a:solidFill>
                <a:latin typeface="Arial" panose="020B0604020202020204" pitchFamily="34" charset="0"/>
                <a:cs typeface="Arial" panose="020B0604020202020204" pitchFamily="34" charset="0"/>
              </a:rPr>
              <a:t>1.</a:t>
            </a:r>
            <a:endParaRPr sz="1400" b="0">
              <a:solidFill>
                <a:srgbClr val="1A1A1A"/>
              </a:solidFill>
              <a:latin typeface="Arial" panose="020B0604020202020204" pitchFamily="34" charset="0"/>
              <a:cs typeface="Arial" panose="020B0604020202020204" pitchFamily="34" charset="0"/>
            </a:endParaRPr>
          </a:p>
        </p:txBody>
      </p:sp>
      <p:sp>
        <p:nvSpPr>
          <p:cNvPr id="9" name="TextBox 8"/>
          <p:cNvSpPr txBox="1"/>
          <p:nvPr/>
        </p:nvSpPr>
        <p:spPr>
          <a:xfrm>
            <a:off x="1344168" y="2377440"/>
            <a:ext cx="4206240" cy="247015"/>
          </a:xfrm>
          <a:prstGeom prst="rect">
            <a:avLst/>
          </a:prstGeom>
          <a:noFill/>
        </p:spPr>
        <p:txBody>
          <a:bodyPr wrap="square" lIns="0" tIns="0" rIns="0" bIns="0" anchor="t">
            <a:spAutoFit/>
          </a:bodyPr>
          <a:lstStyle/>
          <a:p>
            <a:pPr algn="l">
              <a:lnSpc>
                <a:spcPct val="115000"/>
              </a:lnSpc>
            </a:pPr>
            <a:r>
              <a:rPr sz="1400" b="0">
                <a:solidFill>
                  <a:srgbClr val="1A1A1A"/>
                </a:solidFill>
                <a:latin typeface="Arial" panose="020B0604020202020204" pitchFamily="34" charset="0"/>
                <a:cs typeface="Arial" panose="020B0604020202020204" pitchFamily="34" charset="0"/>
              </a:rPr>
              <a:t>GitHub Public Repository</a:t>
            </a:r>
            <a:endParaRPr sz="1400" b="0">
              <a:solidFill>
                <a:srgbClr val="1A1A1A"/>
              </a:solidFill>
              <a:latin typeface="Arial" panose="020B0604020202020204" pitchFamily="34" charset="0"/>
              <a:cs typeface="Arial" panose="020B0604020202020204" pitchFamily="34" charset="0"/>
            </a:endParaRPr>
          </a:p>
        </p:txBody>
      </p:sp>
      <p:sp>
        <p:nvSpPr>
          <p:cNvPr id="10" name="Rectangle 9"/>
          <p:cNvSpPr/>
          <p:nvPr/>
        </p:nvSpPr>
        <p:spPr>
          <a:xfrm>
            <a:off x="5687568" y="2322576"/>
            <a:ext cx="5852160" cy="402336"/>
          </a:xfrm>
          <a:prstGeom prst="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11" name="TextBox 10"/>
          <p:cNvSpPr txBox="1"/>
          <p:nvPr/>
        </p:nvSpPr>
        <p:spPr>
          <a:xfrm>
            <a:off x="5824728" y="2404872"/>
            <a:ext cx="5669280" cy="247015"/>
          </a:xfrm>
          <a:prstGeom prst="rect">
            <a:avLst/>
          </a:prstGeom>
          <a:noFill/>
        </p:spPr>
        <p:txBody>
          <a:bodyPr wrap="square" lIns="0" tIns="0" rIns="0" bIns="0" anchor="t">
            <a:spAutoFit/>
          </a:bodyPr>
          <a:lstStyle/>
          <a:p>
            <a:pPr algn="l">
              <a:lnSpc>
                <a:spcPct val="115000"/>
              </a:lnSpc>
            </a:pPr>
            <a:r>
              <a:rPr sz="1400" b="0">
                <a:solidFill>
                  <a:srgbClr val="3C3C3C"/>
                </a:solidFill>
                <a:latin typeface="Arial" panose="020B0604020202020204" pitchFamily="34" charset="0"/>
                <a:cs typeface="Arial" panose="020B0604020202020204" pitchFamily="34" charset="0"/>
                <a:hlinkClick r:id="rId2" tooltip="" action="ppaction://hlinkfile"/>
              </a:rPr>
              <a:t>https://github.com/YashIsTheBest247/Unilog</a:t>
            </a:r>
            <a:endParaRPr sz="1400" b="0">
              <a:solidFill>
                <a:srgbClr val="3C3C3C"/>
              </a:solidFill>
              <a:latin typeface="Arial" panose="020B0604020202020204" pitchFamily="34" charset="0"/>
              <a:cs typeface="Arial" panose="020B0604020202020204" pitchFamily="34" charset="0"/>
            </a:endParaRPr>
          </a:p>
        </p:txBody>
      </p:sp>
      <p:sp>
        <p:nvSpPr>
          <p:cNvPr id="12" name="TextBox 11"/>
          <p:cNvSpPr txBox="1"/>
          <p:nvPr/>
        </p:nvSpPr>
        <p:spPr>
          <a:xfrm>
            <a:off x="932688" y="3090672"/>
            <a:ext cx="365760" cy="247015"/>
          </a:xfrm>
          <a:prstGeom prst="rect">
            <a:avLst/>
          </a:prstGeom>
          <a:noFill/>
        </p:spPr>
        <p:txBody>
          <a:bodyPr wrap="square" lIns="0" tIns="0" rIns="0" bIns="0" anchor="t">
            <a:spAutoFit/>
          </a:bodyPr>
          <a:lstStyle/>
          <a:p>
            <a:pPr algn="l">
              <a:lnSpc>
                <a:spcPct val="115000"/>
              </a:lnSpc>
            </a:pPr>
            <a:r>
              <a:rPr sz="1400" b="0">
                <a:solidFill>
                  <a:srgbClr val="1A1A1A"/>
                </a:solidFill>
                <a:latin typeface="Arial" panose="020B0604020202020204" pitchFamily="34" charset="0"/>
                <a:cs typeface="Arial" panose="020B0604020202020204" pitchFamily="34" charset="0"/>
              </a:rPr>
              <a:t>2.</a:t>
            </a:r>
            <a:endParaRPr sz="1400" b="0">
              <a:solidFill>
                <a:srgbClr val="1A1A1A"/>
              </a:solidFill>
              <a:latin typeface="Arial" panose="020B0604020202020204" pitchFamily="34" charset="0"/>
              <a:cs typeface="Arial" panose="020B0604020202020204" pitchFamily="34" charset="0"/>
            </a:endParaRPr>
          </a:p>
        </p:txBody>
      </p:sp>
      <p:sp>
        <p:nvSpPr>
          <p:cNvPr id="13" name="TextBox 12"/>
          <p:cNvSpPr txBox="1"/>
          <p:nvPr/>
        </p:nvSpPr>
        <p:spPr>
          <a:xfrm>
            <a:off x="1344168" y="3090672"/>
            <a:ext cx="4206240" cy="247015"/>
          </a:xfrm>
          <a:prstGeom prst="rect">
            <a:avLst/>
          </a:prstGeom>
          <a:noFill/>
        </p:spPr>
        <p:txBody>
          <a:bodyPr wrap="square" lIns="0" tIns="0" rIns="0" bIns="0" anchor="t">
            <a:spAutoFit/>
          </a:bodyPr>
          <a:lstStyle/>
          <a:p>
            <a:pPr algn="l">
              <a:lnSpc>
                <a:spcPct val="115000"/>
              </a:lnSpc>
            </a:pPr>
            <a:r>
              <a:rPr sz="1400" b="0">
                <a:solidFill>
                  <a:srgbClr val="1A1A1A"/>
                </a:solidFill>
                <a:latin typeface="Arial" panose="020B0604020202020204" pitchFamily="34" charset="0"/>
                <a:cs typeface="Arial" panose="020B0604020202020204" pitchFamily="34" charset="0"/>
              </a:rPr>
              <a:t>Demo Video Link (3 Minutes)</a:t>
            </a:r>
            <a:endParaRPr sz="1400" b="0">
              <a:solidFill>
                <a:srgbClr val="1A1A1A"/>
              </a:solidFill>
              <a:latin typeface="Arial" panose="020B0604020202020204" pitchFamily="34" charset="0"/>
              <a:cs typeface="Arial" panose="020B0604020202020204" pitchFamily="34" charset="0"/>
            </a:endParaRPr>
          </a:p>
        </p:txBody>
      </p:sp>
      <p:sp>
        <p:nvSpPr>
          <p:cNvPr id="14" name="Rectangle 13"/>
          <p:cNvSpPr/>
          <p:nvPr/>
        </p:nvSpPr>
        <p:spPr>
          <a:xfrm>
            <a:off x="5687568" y="3035808"/>
            <a:ext cx="5852160" cy="402336"/>
          </a:xfrm>
          <a:prstGeom prst="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15" name="TextBox 14"/>
          <p:cNvSpPr txBox="1"/>
          <p:nvPr/>
        </p:nvSpPr>
        <p:spPr>
          <a:xfrm>
            <a:off x="5824728" y="3118104"/>
            <a:ext cx="5669280" cy="247015"/>
          </a:xfrm>
          <a:prstGeom prst="rect">
            <a:avLst/>
          </a:prstGeom>
          <a:noFill/>
        </p:spPr>
        <p:txBody>
          <a:bodyPr wrap="square" lIns="0" tIns="0" rIns="0" bIns="0" anchor="t">
            <a:spAutoFit/>
          </a:bodyPr>
          <a:lstStyle/>
          <a:p>
            <a:pPr algn="l">
              <a:lnSpc>
                <a:spcPct val="115000"/>
              </a:lnSpc>
            </a:pPr>
            <a:r>
              <a:rPr sz="1400" b="0">
                <a:solidFill>
                  <a:srgbClr val="A8B2BF"/>
                </a:solidFill>
                <a:latin typeface="Arial" panose="020B0604020202020204" pitchFamily="34" charset="0"/>
                <a:cs typeface="Arial" panose="020B0604020202020204" pitchFamily="34" charset="0"/>
              </a:rPr>
              <a:t>add link</a:t>
            </a:r>
            <a:endParaRPr sz="1400" b="0">
              <a:solidFill>
                <a:srgbClr val="A8B2BF"/>
              </a:solidFill>
              <a:latin typeface="Arial" panose="020B0604020202020204" pitchFamily="34" charset="0"/>
              <a:cs typeface="Arial" panose="020B0604020202020204" pitchFamily="34" charset="0"/>
            </a:endParaRPr>
          </a:p>
        </p:txBody>
      </p:sp>
      <p:sp>
        <p:nvSpPr>
          <p:cNvPr id="16" name="TextBox 15"/>
          <p:cNvSpPr txBox="1"/>
          <p:nvPr/>
        </p:nvSpPr>
        <p:spPr>
          <a:xfrm>
            <a:off x="932688" y="3803904"/>
            <a:ext cx="365760" cy="247015"/>
          </a:xfrm>
          <a:prstGeom prst="rect">
            <a:avLst/>
          </a:prstGeom>
          <a:noFill/>
        </p:spPr>
        <p:txBody>
          <a:bodyPr wrap="square" lIns="0" tIns="0" rIns="0" bIns="0" anchor="t">
            <a:spAutoFit/>
          </a:bodyPr>
          <a:lstStyle/>
          <a:p>
            <a:pPr algn="l">
              <a:lnSpc>
                <a:spcPct val="115000"/>
              </a:lnSpc>
            </a:pPr>
            <a:r>
              <a:rPr sz="1400" b="0">
                <a:solidFill>
                  <a:srgbClr val="1A1A1A"/>
                </a:solidFill>
                <a:latin typeface="Arial" panose="020B0604020202020204" pitchFamily="34" charset="0"/>
                <a:cs typeface="Arial" panose="020B0604020202020204" pitchFamily="34" charset="0"/>
              </a:rPr>
              <a:t>3.</a:t>
            </a:r>
            <a:endParaRPr sz="1400" b="0">
              <a:solidFill>
                <a:srgbClr val="1A1A1A"/>
              </a:solidFill>
              <a:latin typeface="Arial" panose="020B0604020202020204" pitchFamily="34" charset="0"/>
              <a:cs typeface="Arial" panose="020B0604020202020204" pitchFamily="34" charset="0"/>
            </a:endParaRPr>
          </a:p>
        </p:txBody>
      </p:sp>
      <p:sp>
        <p:nvSpPr>
          <p:cNvPr id="17" name="TextBox 16"/>
          <p:cNvSpPr txBox="1"/>
          <p:nvPr/>
        </p:nvSpPr>
        <p:spPr>
          <a:xfrm>
            <a:off x="1344168" y="3803904"/>
            <a:ext cx="4206240" cy="247015"/>
          </a:xfrm>
          <a:prstGeom prst="rect">
            <a:avLst/>
          </a:prstGeom>
          <a:noFill/>
        </p:spPr>
        <p:txBody>
          <a:bodyPr wrap="square" lIns="0" tIns="0" rIns="0" bIns="0" anchor="t">
            <a:spAutoFit/>
          </a:bodyPr>
          <a:lstStyle/>
          <a:p>
            <a:pPr algn="l">
              <a:lnSpc>
                <a:spcPct val="115000"/>
              </a:lnSpc>
            </a:pPr>
            <a:r>
              <a:rPr sz="1400" b="0">
                <a:solidFill>
                  <a:srgbClr val="1A1A1A"/>
                </a:solidFill>
                <a:latin typeface="Arial" panose="020B0604020202020204" pitchFamily="34" charset="0"/>
                <a:cs typeface="Arial" panose="020B0604020202020204" pitchFamily="34" charset="0"/>
              </a:rPr>
              <a:t>Working Prototype Link</a:t>
            </a:r>
            <a:endParaRPr sz="1400" b="0">
              <a:solidFill>
                <a:srgbClr val="1A1A1A"/>
              </a:solidFill>
              <a:latin typeface="Arial" panose="020B0604020202020204" pitchFamily="34" charset="0"/>
              <a:cs typeface="Arial" panose="020B0604020202020204" pitchFamily="34" charset="0"/>
            </a:endParaRPr>
          </a:p>
        </p:txBody>
      </p:sp>
      <p:sp>
        <p:nvSpPr>
          <p:cNvPr id="18" name="Rectangle 17"/>
          <p:cNvSpPr/>
          <p:nvPr/>
        </p:nvSpPr>
        <p:spPr>
          <a:xfrm>
            <a:off x="5687568" y="3749040"/>
            <a:ext cx="5852160" cy="402336"/>
          </a:xfrm>
          <a:prstGeom prst="rect">
            <a:avLst/>
          </a:prstGeom>
          <a:solidFill>
            <a:srgbClr val="F4F7FB"/>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rial" panose="020B0604020202020204" pitchFamily="34" charset="0"/>
              <a:cs typeface="Arial" panose="020B0604020202020204" pitchFamily="34" charset="0"/>
            </a:endParaRPr>
          </a:p>
        </p:txBody>
      </p:sp>
      <p:sp>
        <p:nvSpPr>
          <p:cNvPr id="19" name="TextBox 18"/>
          <p:cNvSpPr txBox="1"/>
          <p:nvPr/>
        </p:nvSpPr>
        <p:spPr>
          <a:xfrm>
            <a:off x="5824728" y="3831336"/>
            <a:ext cx="5669280" cy="247015"/>
          </a:xfrm>
          <a:prstGeom prst="rect">
            <a:avLst/>
          </a:prstGeom>
          <a:noFill/>
        </p:spPr>
        <p:txBody>
          <a:bodyPr wrap="square" lIns="0" tIns="0" rIns="0" bIns="0" anchor="t">
            <a:spAutoFit/>
          </a:bodyPr>
          <a:lstStyle/>
          <a:p>
            <a:pPr algn="l">
              <a:lnSpc>
                <a:spcPct val="115000"/>
              </a:lnSpc>
            </a:pPr>
            <a:r>
              <a:rPr sz="1400" b="0">
                <a:solidFill>
                  <a:srgbClr val="3C3C3C"/>
                </a:solidFill>
                <a:latin typeface="Arial" panose="020B0604020202020204" pitchFamily="34" charset="0"/>
                <a:cs typeface="Arial" panose="020B0604020202020204" pitchFamily="34" charset="0"/>
                <a:hlinkClick r:id="rId3" tooltip="" action="ppaction://hlinkfile"/>
              </a:rPr>
              <a:t>https://get-unify.vercel.app</a:t>
            </a:r>
            <a:endParaRPr sz="1400" b="0">
              <a:solidFill>
                <a:srgbClr val="3C3C3C"/>
              </a:solidFill>
              <a:latin typeface="Arial" panose="020B0604020202020204" pitchFamily="34" charset="0"/>
              <a:cs typeface="Arial" panose="020B0604020202020204" pitchFamily="34" charset="0"/>
            </a:endParaRPr>
          </a:p>
        </p:txBody>
      </p:sp>
      <p:sp>
        <p:nvSpPr>
          <p:cNvPr id="20" name="TextBox 19"/>
          <p:cNvSpPr txBox="1"/>
          <p:nvPr/>
        </p:nvSpPr>
        <p:spPr>
          <a:xfrm>
            <a:off x="566928" y="5120640"/>
            <a:ext cx="11057839" cy="269240"/>
          </a:xfrm>
          <a:prstGeom prst="rect">
            <a:avLst/>
          </a:prstGeom>
          <a:noFill/>
        </p:spPr>
        <p:txBody>
          <a:bodyPr wrap="square" lIns="0" tIns="0" rIns="0" bIns="0" anchor="t">
            <a:spAutoFit/>
          </a:bodyPr>
          <a:lstStyle/>
          <a:p>
            <a:pPr algn="l">
              <a:lnSpc>
                <a:spcPct val="125000"/>
              </a:lnSpc>
            </a:pPr>
            <a:r>
              <a:rPr sz="1400" b="0">
                <a:solidFill>
                  <a:srgbClr val="6B6B6B"/>
                </a:solidFill>
                <a:latin typeface="Arial" panose="020B0604020202020204" pitchFamily="34" charset="0"/>
                <a:cs typeface="Arial" panose="020B0604020202020204" pitchFamily="34" charset="0"/>
              </a:rPr>
              <a:t>.</a:t>
            </a:r>
            <a:endParaRPr sz="1400" b="0">
              <a:solidFill>
                <a:srgbClr val="6B6B6B"/>
              </a:solidFill>
              <a:latin typeface="Arial" panose="020B0604020202020204" pitchFamily="34" charset="0"/>
              <a:cs typeface="Arial" panose="020B0604020202020204" pitchFamily="34" charset="0"/>
            </a:endParaRPr>
          </a:p>
        </p:txBody>
      </p:sp>
      <p:sp>
        <p:nvSpPr>
          <p:cNvPr id="25" name="TextBox 6"/>
          <p:cNvSpPr txBox="1"/>
          <p:nvPr/>
        </p:nvSpPr>
        <p:spPr>
          <a:xfrm>
            <a:off x="566928" y="1298448"/>
            <a:ext cx="11057839" cy="424180"/>
          </a:xfrm>
          <a:prstGeom prst="rect">
            <a:avLst/>
          </a:prstGeom>
          <a:noFill/>
        </p:spPr>
        <p:txBody>
          <a:bodyPr wrap="square" lIns="0" tIns="0" rIns="0" bIns="0" anchor="t">
            <a:spAutoFit/>
          </a:bodyPr>
          <a:lstStyle/>
          <a:p>
            <a:pPr algn="l">
              <a:lnSpc>
                <a:spcPct val="115000"/>
              </a:lnSpc>
            </a:pPr>
            <a:r>
              <a:rPr lang="en-US" sz="2400" b="0">
                <a:solidFill>
                  <a:srgbClr val="1A1A1A"/>
                </a:solidFill>
                <a:latin typeface="Arial" panose="020B0604020202020204" pitchFamily="34" charset="0"/>
                <a:cs typeface="Arial" panose="020B0604020202020204" pitchFamily="34" charset="0"/>
              </a:rPr>
              <a:t>Provide links to your:</a:t>
            </a:r>
            <a:endParaRPr lang="en-US" sz="2400" b="0">
              <a:solidFill>
                <a:srgbClr val="1A1A1A"/>
              </a:solidFill>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 name="Google Shape;184;p39" title="Framededede 4.png"/>
          <p:cNvPicPr preferRelativeResize="0"/>
          <p:nvPr/>
        </p:nvPicPr>
        <p:blipFill>
          <a:blip r:embed="rId1"/>
          <a:stretch>
            <a:fillRect/>
          </a:stretch>
        </p:blipFill>
        <p:spPr>
          <a:xfrm>
            <a:off x="0" y="0"/>
            <a:ext cx="12192000" cy="6858000"/>
          </a:xfrm>
          <a:prstGeom prst="rect">
            <a:avLst/>
          </a:prstGeom>
          <a:noFill/>
          <a:ln>
            <a:noFill/>
          </a:ln>
        </p:spPr>
      </p:pic>
    </p:spTree>
  </p:cSld>
  <p:clrMapOvr>
    <a:masterClrMapping/>
  </p:clrMapOvr>
</p:sld>
</file>

<file path=ppt/tags/tag1.xml><?xml version="1.0" encoding="utf-8"?>
<p:tagLst xmlns:p="http://schemas.openxmlformats.org/presentationml/2006/main">
  <p:tag name="KSO_WM_DIAGRAM_VIRTUALLY_FRAME" val="{&quot;height&quot;:296.43999999999994,&quot;left&quot;:44.64,&quot;top&quot;:160.8,&quot;width&quot;:877.6800000000001}"/>
</p:tagLst>
</file>

<file path=ppt/tags/tag2.xml><?xml version="1.0" encoding="utf-8"?>
<p:tagLst xmlns:p="http://schemas.openxmlformats.org/presentationml/2006/main">
  <p:tag name="KSO_WM_DIAGRAM_VIRTUALLY_FRAME" val="{&quot;height&quot;:296.43999999999994,&quot;left&quot;:44.64,&quot;top&quot;:160.8,&quot;width&quot;:877.6800000000001}"/>
</p:tagLst>
</file>

<file path=ppt/tags/tag3.xml><?xml version="1.0" encoding="utf-8"?>
<p:tagLst xmlns:p="http://schemas.openxmlformats.org/presentationml/2006/main">
  <p:tag name="KSO_WM_DIAGRAM_VIRTUALLY_FRAME" val="{&quot;height&quot;:296.43999999999994,&quot;left&quot;:44.64,&quot;top&quot;:160.8,&quot;width&quot;:877.6800000000001}"/>
</p:tagLst>
</file>

<file path=ppt/tags/tag4.xml><?xml version="1.0" encoding="utf-8"?>
<p:tagLst xmlns:p="http://schemas.openxmlformats.org/presentationml/2006/main">
  <p:tag name="KSO_WM_DIAGRAM_VIRTUALLY_FRAME" val="{&quot;height&quot;:296.43999999999994,&quot;left&quot;:44.64,&quot;top&quot;:160.8,&quot;width&quot;:877.6800000000001}"/>
</p:tagLst>
</file>

<file path=ppt/tags/tag5.xml><?xml version="1.0" encoding="utf-8"?>
<p:tagLst xmlns:p="http://schemas.openxmlformats.org/presentationml/2006/main">
  <p:tag name="KSO_WM_DIAGRAM_VIRTUALLY_FRAME" val="{&quot;height&quot;:296.43999999999994,&quot;left&quot;:44.64,&quot;top&quot;:160.8,&quot;width&quot;:877.6800000000001}"/>
</p:tagLst>
</file>

<file path=ppt/tags/tag6.xml><?xml version="1.0" encoding="utf-8"?>
<p:tagLst xmlns:p="http://schemas.openxmlformats.org/presentationml/2006/main">
  <p:tag name="KSO_WM_DIAGRAM_VIRTUALLY_FRAME" val="{&quot;height&quot;:296.43999999999994,&quot;left&quot;:44.64,&quot;top&quot;:160.8,&quot;width&quot;:877.6800000000001}"/>
</p:tagLst>
</file>

<file path=ppt/tags/tag7.xml><?xml version="1.0" encoding="utf-8"?>
<p:tagLst xmlns:p="http://schemas.openxmlformats.org/presentationml/2006/main">
  <p:tag name="KSO_WM_DIAGRAM_VIRTUALLY_FRAME" val="{&quot;height&quot;:296.43999999999994,&quot;left&quot;:44.64,&quot;top&quot;:160.8,&quot;width&quot;:877.6800000000001}"/>
</p:tagLst>
</file>

<file path=ppt/tags/tag8.xml><?xml version="1.0" encoding="utf-8"?>
<p:tagLst xmlns:p="http://schemas.openxmlformats.org/presentationml/2006/main">
  <p:tag name="KSO_WM_DIAGRAM_VIRTUALLY_FRAME" val="{&quot;height&quot;:296.43999999999994,&quot;left&quot;:44.64,&quot;top&quot;:160.8,&quot;width&quot;:877.6800000000001}"/>
</p:tagLst>
</file>

<file path=ppt/tags/tag9.xml><?xml version="1.0" encoding="utf-8"?>
<p:tagLst xmlns:p="http://schemas.openxmlformats.org/presentationml/2006/main">
  <p:tag name="KSO_WM_DIAGRAM_VIRTUALLY_FRAME" val="{&quot;height&quot;:296.43999999999994,&quot;left&quot;:44.64,&quot;top&quot;:160.8,&quot;width&quot;:877.6800000000001}"/>
</p:tagLst>
</file>

<file path=ppt/tags/tag10.xml><?xml version="1.0" encoding="utf-8"?>
<p:tagLst xmlns:p="http://schemas.openxmlformats.org/presentationml/2006/main">
  <p:tag name="KSO_WM_DIAGRAM_VIRTUALLY_FRAME" val="{&quot;height&quot;:296.43999999999994,&quot;left&quot;:44.64,&quot;top&quot;:160.8,&quot;width&quot;:877.6800000000001}"/>
</p:tagLst>
</file>

<file path=ppt/tags/tag11.xml><?xml version="1.0" encoding="utf-8"?>
<p:tagLst xmlns:p="http://schemas.openxmlformats.org/presentationml/2006/main">
  <p:tag name="KSO_WM_DIAGRAM_VIRTUALLY_FRAME" val="{&quot;height&quot;:296.43999999999994,&quot;left&quot;:44.64,&quot;top&quot;:160.8,&quot;width&quot;:877.6800000000001}"/>
</p:tagLst>
</file>

<file path=ppt/tags/tag12.xml><?xml version="1.0" encoding="utf-8"?>
<p:tagLst xmlns:p="http://schemas.openxmlformats.org/presentationml/2006/main">
  <p:tag name="KSO_WM_DIAGRAM_VIRTUALLY_FRAME" val="{&quot;height&quot;:296.43999999999994,&quot;left&quot;:44.64,&quot;top&quot;:160.8,&quot;width&quot;:877.6800000000001}"/>
</p:tagLst>
</file>

<file path=ppt/tags/tag13.xml><?xml version="1.0" encoding="utf-8"?>
<p:tagLst xmlns:p="http://schemas.openxmlformats.org/presentationml/2006/main">
  <p:tag name="KSO_WM_DIAGRAM_VIRTUALLY_FRAME" val="{&quot;height&quot;:331.28000000000003,&quot;left&quot;:44.64,&quot;top&quot;:168.4,&quot;width&quot;:870.4800000000001}"/>
</p:tagLst>
</file>

<file path=ppt/tags/tag14.xml><?xml version="1.0" encoding="utf-8"?>
<p:tagLst xmlns:p="http://schemas.openxmlformats.org/presentationml/2006/main">
  <p:tag name="KSO_WM_DIAGRAM_VIRTUALLY_FRAME" val="{&quot;height&quot;:331.28000000000003,&quot;left&quot;:44.64,&quot;top&quot;:168.4,&quot;width&quot;:870.4800000000001}"/>
</p:tagLst>
</file>

<file path=ppt/tags/tag15.xml><?xml version="1.0" encoding="utf-8"?>
<p:tagLst xmlns:p="http://schemas.openxmlformats.org/presentationml/2006/main">
  <p:tag name="KSO_WM_DIAGRAM_VIRTUALLY_FRAME" val="{&quot;height&quot;:331.28000000000003,&quot;left&quot;:44.64,&quot;top&quot;:168.4,&quot;width&quot;:870.4800000000001}"/>
</p:tagLst>
</file>

<file path=ppt/tags/tag16.xml><?xml version="1.0" encoding="utf-8"?>
<p:tagLst xmlns:p="http://schemas.openxmlformats.org/presentationml/2006/main">
  <p:tag name="KSO_WM_DIAGRAM_VIRTUALLY_FRAME" val="{&quot;height&quot;:331.28000000000003,&quot;left&quot;:44.64,&quot;top&quot;:168.4,&quot;width&quot;:870.4800000000001}"/>
</p:tagLst>
</file>

<file path=ppt/tags/tag17.xml><?xml version="1.0" encoding="utf-8"?>
<p:tagLst xmlns:p="http://schemas.openxmlformats.org/presentationml/2006/main">
  <p:tag name="KSO_WM_DIAGRAM_VIRTUALLY_FRAME" val="{&quot;height&quot;:331.28000000000003,&quot;left&quot;:44.64,&quot;top&quot;:168.4,&quot;width&quot;:870.4800000000001}"/>
</p:tagLst>
</file>

<file path=ppt/tags/tag18.xml><?xml version="1.0" encoding="utf-8"?>
<p:tagLst xmlns:p="http://schemas.openxmlformats.org/presentationml/2006/main">
  <p:tag name="KSO_WM_DIAGRAM_VIRTUALLY_FRAME" val="{&quot;height&quot;:331.28000000000003,&quot;left&quot;:44.64,&quot;top&quot;:168.4,&quot;width&quot;:870.4800000000001}"/>
</p:tagLst>
</file>

<file path=ppt/tags/tag19.xml><?xml version="1.0" encoding="utf-8"?>
<p:tagLst xmlns:p="http://schemas.openxmlformats.org/presentationml/2006/main">
  <p:tag name="KSO_WM_DIAGRAM_VIRTUALLY_FRAME" val="{&quot;height&quot;:331.28000000000003,&quot;left&quot;:44.64,&quot;top&quot;:168.4,&quot;width&quot;:870.4800000000001}"/>
</p:tagLst>
</file>

<file path=ppt/tags/tag20.xml><?xml version="1.0" encoding="utf-8"?>
<p:tagLst xmlns:p="http://schemas.openxmlformats.org/presentationml/2006/main">
  <p:tag name="KSO_WM_DIAGRAM_VIRTUALLY_FRAME" val="{&quot;height&quot;:331.28000000000003,&quot;left&quot;:44.64,&quot;top&quot;:168.4,&quot;width&quot;:870.4800000000001}"/>
</p:tagLst>
</file>

<file path=ppt/tags/tag21.xml><?xml version="1.0" encoding="utf-8"?>
<p:tagLst xmlns:p="http://schemas.openxmlformats.org/presentationml/2006/main">
  <p:tag name="KSO_WM_DIAGRAM_VIRTUALLY_FRAME" val="{&quot;height&quot;:331.28000000000003,&quot;left&quot;:44.64,&quot;top&quot;:168.4,&quot;width&quot;:870.4800000000001}"/>
</p:tagLst>
</file>

<file path=ppt/tags/tag22.xml><?xml version="1.0" encoding="utf-8"?>
<p:tagLst xmlns:p="http://schemas.openxmlformats.org/presentationml/2006/main">
  <p:tag name="KSO_WM_DIAGRAM_VIRTUALLY_FRAME" val="{&quot;height&quot;:331.28000000000003,&quot;left&quot;:44.64,&quot;top&quot;:168.4,&quot;width&quot;:870.4800000000001}"/>
</p:tagLst>
</file>

<file path=ppt/tags/tag23.xml><?xml version="1.0" encoding="utf-8"?>
<p:tagLst xmlns:p="http://schemas.openxmlformats.org/presentationml/2006/main">
  <p:tag name="KSO_WM_DIAGRAM_VIRTUALLY_FRAME" val="{&quot;height&quot;:331.28000000000003,&quot;left&quot;:44.64,&quot;top&quot;:168.4,&quot;width&quot;:870.4800000000001}"/>
</p:tagLst>
</file>

<file path=ppt/tags/tag24.xml><?xml version="1.0" encoding="utf-8"?>
<p:tagLst xmlns:p="http://schemas.openxmlformats.org/presentationml/2006/main">
  <p:tag name="KSO_WM_DIAGRAM_VIRTUALLY_FRAME" val="{&quot;height&quot;:331.28000000000003,&quot;left&quot;:44.64,&quot;top&quot;:168.4,&quot;width&quot;:870.4800000000001}"/>
</p:tagLst>
</file>

<file path=ppt/tags/tag25.xml><?xml version="1.0" encoding="utf-8"?>
<p:tagLst xmlns:p="http://schemas.openxmlformats.org/presentationml/2006/main">
  <p:tag name="KSO_WM_DIAGRAM_VIRTUALLY_FRAME" val="{&quot;height&quot;:331.28000000000003,&quot;left&quot;:44.64,&quot;top&quot;:168.4,&quot;width&quot;:870.4800000000001}"/>
</p:tagLst>
</file>

<file path=ppt/tags/tag26.xml><?xml version="1.0" encoding="utf-8"?>
<p:tagLst xmlns:p="http://schemas.openxmlformats.org/presentationml/2006/main">
  <p:tag name="KSO_WM_DIAGRAM_VIRTUALLY_FRAME" val="{&quot;height&quot;:331.28000000000003,&quot;left&quot;:44.64,&quot;top&quot;:168.4,&quot;width&quot;:870.4800000000001}"/>
</p:tagLst>
</file>

<file path=ppt/tags/tag27.xml><?xml version="1.0" encoding="utf-8"?>
<p:tagLst xmlns:p="http://schemas.openxmlformats.org/presentationml/2006/main">
  <p:tag name="KSO_WM_DIAGRAM_VIRTUALLY_FRAME" val="{&quot;height&quot;:331.28000000000003,&quot;left&quot;:44.64,&quot;top&quot;:168.4,&quot;width&quot;:870.4800000000001}"/>
</p:tagLst>
</file>

<file path=ppt/tags/tag28.xml><?xml version="1.0" encoding="utf-8"?>
<p:tagLst xmlns:p="http://schemas.openxmlformats.org/presentationml/2006/main">
  <p:tag name="KSO_WM_DIAGRAM_VIRTUALLY_FRAME" val="{&quot;height&quot;:331.28000000000003,&quot;left&quot;:44.64,&quot;top&quot;:168.4,&quot;width&quot;:870.4800000000001}"/>
</p:tagLst>
</file>

<file path=ppt/tags/tag29.xml><?xml version="1.0" encoding="utf-8"?>
<p:tagLst xmlns:p="http://schemas.openxmlformats.org/presentationml/2006/main">
  <p:tag name="KSO_WM_DIAGRAM_VIRTUALLY_FRAME" val="{&quot;height&quot;:331.28000000000003,&quot;left&quot;:44.64,&quot;top&quot;:168.4,&quot;width&quot;:870.480000000000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10440</Words>
  <Application>WPS Presentation</Application>
  <PresentationFormat>On-screen Show (4:3)</PresentationFormat>
  <Paragraphs>324</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vt:lpstr>
      <vt:lpstr>Calibri</vt:lpstr>
      <vt:lpstr>Microsoft YaHei</vt:lpstr>
      <vt:lpstr>Arial Unicode MS</vt:lpstr>
      <vt:lpstr>Calibri</vt:lpstr>
      <vt:lpstr>Google Sans</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yashm</cp:lastModifiedBy>
  <cp:revision>2</cp:revision>
  <dcterms:created xsi:type="dcterms:W3CDTF">2013-01-27T09:14:00Z</dcterms:created>
  <dcterms:modified xsi:type="dcterms:W3CDTF">2026-08-23T11:23:16Z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AE247142BC9F4C91A1BAEFC8D69CCB3C_12</vt:lpwstr>
  </property>
  <property fmtid="{D5CDD505-2E9C-101B-9397-08002B2CF9AE}" pid="3" name="KSOProductBuildVer">
    <vt:lpwstr>2057-12.2.0.23206</vt:lpwstr>
  </property>
</Properties>
</file>